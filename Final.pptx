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Lexend Tera"/>
      <p:regular r:id="rId54"/>
      <p:bold r:id="rId55"/>
    </p:embeddedFont>
    <p:embeddedFont>
      <p:font typeface="Inria Sans"/>
      <p:regular r:id="rId56"/>
      <p:bold r:id="rId57"/>
      <p:italic r:id="rId58"/>
      <p:boldItalic r:id="rId59"/>
    </p:embeddedFont>
    <p:embeddedFont>
      <p:font typeface="Didact Gothic"/>
      <p:regular r:id="rId60"/>
    </p:embeddedFont>
    <p:embeddedFont>
      <p:font typeface="Old Standard TT"/>
      <p:regular r:id="rId61"/>
      <p:bold r:id="rId62"/>
      <p:italic r:id="rId63"/>
    </p:embeddedFont>
    <p:embeddedFont>
      <p:font typeface="Montserrat ExtraBold"/>
      <p:bold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ldStandardTT-bold.fntdata"/><Relationship Id="rId61" Type="http://schemas.openxmlformats.org/officeDocument/2006/relationships/font" Target="fonts/OldStandardTT-regular.fntdata"/><Relationship Id="rId20" Type="http://schemas.openxmlformats.org/officeDocument/2006/relationships/slide" Target="slides/slide14.xml"/><Relationship Id="rId64" Type="http://schemas.openxmlformats.org/officeDocument/2006/relationships/font" Target="fonts/MontserratExtraBold-bold.fntdata"/><Relationship Id="rId63" Type="http://schemas.openxmlformats.org/officeDocument/2006/relationships/font" Target="fonts/OldStandardT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MontserratExtra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DidactGothic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LexendTera-bold.fntdata"/><Relationship Id="rId10" Type="http://schemas.openxmlformats.org/officeDocument/2006/relationships/slide" Target="slides/slide4.xml"/><Relationship Id="rId54" Type="http://schemas.openxmlformats.org/officeDocument/2006/relationships/font" Target="fonts/LexendTera-regular.fntdata"/><Relationship Id="rId13" Type="http://schemas.openxmlformats.org/officeDocument/2006/relationships/slide" Target="slides/slide7.xml"/><Relationship Id="rId57" Type="http://schemas.openxmlformats.org/officeDocument/2006/relationships/font" Target="fonts/InriaSans-bold.fntdata"/><Relationship Id="rId12" Type="http://schemas.openxmlformats.org/officeDocument/2006/relationships/slide" Target="slides/slide6.xml"/><Relationship Id="rId56" Type="http://schemas.openxmlformats.org/officeDocument/2006/relationships/font" Target="fonts/InriaSans-regular.fntdata"/><Relationship Id="rId15" Type="http://schemas.openxmlformats.org/officeDocument/2006/relationships/slide" Target="slides/slide9.xml"/><Relationship Id="rId59" Type="http://schemas.openxmlformats.org/officeDocument/2006/relationships/font" Target="fonts/InriaSans-boldItalic.fntdata"/><Relationship Id="rId14" Type="http://schemas.openxmlformats.org/officeDocument/2006/relationships/slide" Target="slides/slide8.xml"/><Relationship Id="rId58" Type="http://schemas.openxmlformats.org/officeDocument/2006/relationships/font" Target="fonts/Inria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a0062d7ae_2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aa0062d7ae_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a0062d7ae_2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aa0062d7ae_2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a0062d7ae_2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aa0062d7ae_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a0062d7ae_2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a0062d7ae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a0062d7a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aa0062d7a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a0062d7ae_2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aa0062d7ae_2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a0062d7a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aa0062d7a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a0062d7ae_2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aa0062d7ae_2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a0062d7a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aa0062d7a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a0062d7ae_2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aa0062d7ae_2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a0062d7a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aa0062d7a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a0062d7a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aa0062d7a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a0062d7ae_2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aa0062d7ae_2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a0062d7a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aa0062d7a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a0062d7ae_2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aa0062d7ae_2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a0062d7a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aa0062d7a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a0062d7ae_2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aa0062d7ae_2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a0062d7a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aa0062d7a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a0062d7a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aa0062d7a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a0062d7a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aa0062d7a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a0062d7a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aa0062d7a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a0062d7ae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aa0062d7a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a0062d7ae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aa0062d7ae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a0062d7ae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aa0062d7ae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a0062d7ae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aa0062d7ae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a0062d7ae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aa0062d7ae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a0062d7ae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aa0062d7ae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a0062d7ae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aa0062d7ae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a0062d7ae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3aa0062d7ae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a0062d7a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aa0062d7a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a0062d7ae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3aa0062d7ae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a0062d7a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aa0062d7a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a0062d7ae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aa0062d7ae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aa0062d7ae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aa0062d7ae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a0062d7ae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aa0062d7ae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a0062d7ae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3aa0062d7ae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a0062d7ae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aa0062d7ae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a0062d7ae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aa0062d7ae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a0062d7ae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aa0062d7ae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a0062d7ae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g3aa0062d7ae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aa0062d7a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3aa0062d7a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a0062d7ae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3aa0062d7ae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aa0062d7ae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g3aa0062d7ae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aa0062d7ae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aa0062d7ae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a0062d7a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aa0062d7a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a0062d7ae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aa0062d7ae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a0062d7ae_2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aa0062d7ae_2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484100" y="1479650"/>
            <a:ext cx="61758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724250" y="3265350"/>
            <a:ext cx="5695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57" name="Google Shape;57;p14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" name="Google Shape;67;p15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68" name="Google Shape;68;p15"/>
            <p:cNvCxnSpPr/>
            <p:nvPr/>
          </p:nvCxnSpPr>
          <p:spPr>
            <a:xfrm>
              <a:off x="-21425" y="2571750"/>
              <a:ext cx="647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" name="Google Shape;69;p15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5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1" name="Google Shape;71;p15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380631" y="1148650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6"/>
          <p:cNvSpPr txBox="1"/>
          <p:nvPr>
            <p:ph idx="2" type="title"/>
          </p:nvPr>
        </p:nvSpPr>
        <p:spPr>
          <a:xfrm>
            <a:off x="4962573" y="2352463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843710" y="1600083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76" name="Google Shape;76;p16"/>
          <p:cNvSpPr txBox="1"/>
          <p:nvPr>
            <p:ph idx="3" type="title"/>
          </p:nvPr>
        </p:nvSpPr>
        <p:spPr>
          <a:xfrm>
            <a:off x="1378248" y="2352463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6"/>
          <p:cNvSpPr txBox="1"/>
          <p:nvPr>
            <p:ph idx="4" type="title"/>
          </p:nvPr>
        </p:nvSpPr>
        <p:spPr>
          <a:xfrm>
            <a:off x="840948" y="2352463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840947" y="280394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79" name="Google Shape;79;p16"/>
          <p:cNvSpPr txBox="1"/>
          <p:nvPr>
            <p:ph idx="6" type="title"/>
          </p:nvPr>
        </p:nvSpPr>
        <p:spPr>
          <a:xfrm>
            <a:off x="1380631" y="3556275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6"/>
          <p:cNvSpPr txBox="1"/>
          <p:nvPr>
            <p:ph idx="7" type="title"/>
          </p:nvPr>
        </p:nvSpPr>
        <p:spPr>
          <a:xfrm>
            <a:off x="843091" y="3556275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843710" y="400780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82" name="Google Shape;82;p16"/>
          <p:cNvSpPr txBox="1"/>
          <p:nvPr>
            <p:ph idx="9" type="title"/>
          </p:nvPr>
        </p:nvSpPr>
        <p:spPr>
          <a:xfrm>
            <a:off x="5502253" y="1148650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6"/>
          <p:cNvSpPr txBox="1"/>
          <p:nvPr>
            <p:ph idx="13" type="title"/>
          </p:nvPr>
        </p:nvSpPr>
        <p:spPr>
          <a:xfrm>
            <a:off x="4964707" y="1148650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/>
          <p:nvPr>
            <p:ph idx="14" type="subTitle"/>
          </p:nvPr>
        </p:nvSpPr>
        <p:spPr>
          <a:xfrm>
            <a:off x="4965334" y="1600083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85" name="Google Shape;85;p16"/>
          <p:cNvSpPr txBox="1"/>
          <p:nvPr>
            <p:ph idx="15" type="title"/>
          </p:nvPr>
        </p:nvSpPr>
        <p:spPr>
          <a:xfrm>
            <a:off x="5499872" y="2352463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6"/>
          <p:cNvSpPr txBox="1"/>
          <p:nvPr>
            <p:ph idx="16" type="title"/>
          </p:nvPr>
        </p:nvSpPr>
        <p:spPr>
          <a:xfrm>
            <a:off x="843091" y="1148650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6"/>
          <p:cNvSpPr txBox="1"/>
          <p:nvPr>
            <p:ph idx="17" type="subTitle"/>
          </p:nvPr>
        </p:nvSpPr>
        <p:spPr>
          <a:xfrm>
            <a:off x="4962571" y="280394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88" name="Google Shape;88;p16"/>
          <p:cNvSpPr txBox="1"/>
          <p:nvPr>
            <p:ph idx="18" type="title"/>
          </p:nvPr>
        </p:nvSpPr>
        <p:spPr>
          <a:xfrm>
            <a:off x="5502253" y="3556275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6"/>
          <p:cNvSpPr txBox="1"/>
          <p:nvPr>
            <p:ph idx="19" type="title"/>
          </p:nvPr>
        </p:nvSpPr>
        <p:spPr>
          <a:xfrm>
            <a:off x="4964707" y="3556275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" name="Google Shape;90;p16"/>
          <p:cNvSpPr txBox="1"/>
          <p:nvPr>
            <p:ph idx="20" type="subTitle"/>
          </p:nvPr>
        </p:nvSpPr>
        <p:spPr>
          <a:xfrm>
            <a:off x="4965334" y="400780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91" name="Google Shape;91;p16"/>
          <p:cNvSpPr txBox="1"/>
          <p:nvPr>
            <p:ph idx="21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2" name="Google Shape;92;p16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93" name="Google Shape;93;p16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16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6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" name="Google Shape;96;p16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17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p17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1" name="Google Shape;101;p17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02" name="Google Shape;102;p17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7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7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7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7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7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8" name="Google Shape;108;p17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076100" y="1482813"/>
            <a:ext cx="70020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2045700" y="3106513"/>
            <a:ext cx="50628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3" name="Google Shape;113;p18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14" name="Google Shape;114;p18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" name="Google Shape;120;p18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2298750" y="1249600"/>
            <a:ext cx="45465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298750" y="2412263"/>
            <a:ext cx="45465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5" name="Google Shape;125;p19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26" name="Google Shape;126;p19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9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9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9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9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19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" name="Google Shape;132;p19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07175" y="1728263"/>
            <a:ext cx="37635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7" name="Google Shape;137;p20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38" name="Google Shape;138;p20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20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1" name="Google Shape;141;p20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1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" name="Google Shape;147;p21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1094861" y="1101325"/>
            <a:ext cx="6954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9" name="Google Shape;149;p21"/>
          <p:cNvSpPr txBox="1"/>
          <p:nvPr>
            <p:ph idx="1" type="subTitle"/>
          </p:nvPr>
        </p:nvSpPr>
        <p:spPr>
          <a:xfrm>
            <a:off x="1094861" y="1506475"/>
            <a:ext cx="69543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2" type="title"/>
          </p:nvPr>
        </p:nvSpPr>
        <p:spPr>
          <a:xfrm>
            <a:off x="1094861" y="2282875"/>
            <a:ext cx="6954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1" name="Google Shape;151;p21"/>
          <p:cNvSpPr txBox="1"/>
          <p:nvPr>
            <p:ph idx="3" type="subTitle"/>
          </p:nvPr>
        </p:nvSpPr>
        <p:spPr>
          <a:xfrm>
            <a:off x="1094861" y="2688025"/>
            <a:ext cx="69543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4" type="title"/>
          </p:nvPr>
        </p:nvSpPr>
        <p:spPr>
          <a:xfrm>
            <a:off x="1094861" y="3464425"/>
            <a:ext cx="6954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21"/>
          <p:cNvSpPr txBox="1"/>
          <p:nvPr>
            <p:ph idx="5" type="subTitle"/>
          </p:nvPr>
        </p:nvSpPr>
        <p:spPr>
          <a:xfrm>
            <a:off x="1094861" y="3869575"/>
            <a:ext cx="69543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6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2642550" y="2977131"/>
            <a:ext cx="3858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1714500" y="1634469"/>
            <a:ext cx="57150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8" name="Google Shape;158;p22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59" name="Google Shape;159;p22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2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2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2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2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2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22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3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69" name="Google Shape;169;p23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2" name="Google Shape;172;p23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2138887" y="1854447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1" sz="2200"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4267224" y="3232125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1" sz="2200"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ExtraBold"/>
              <a:buNone/>
              <a:defRPr b="0" sz="25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5103324" y="1626300"/>
            <a:ext cx="33207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subTitle"/>
          </p:nvPr>
        </p:nvSpPr>
        <p:spPr>
          <a:xfrm>
            <a:off x="719976" y="3003975"/>
            <a:ext cx="32691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1843206" y="1218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1843206" y="1611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2" type="title"/>
          </p:nvPr>
        </p:nvSpPr>
        <p:spPr>
          <a:xfrm>
            <a:off x="1843206" y="2382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2" name="Google Shape;182;p24"/>
          <p:cNvSpPr txBox="1"/>
          <p:nvPr>
            <p:ph idx="3" type="subTitle"/>
          </p:nvPr>
        </p:nvSpPr>
        <p:spPr>
          <a:xfrm>
            <a:off x="1843206" y="2775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4" type="title"/>
          </p:nvPr>
        </p:nvSpPr>
        <p:spPr>
          <a:xfrm>
            <a:off x="1843206" y="3546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24"/>
          <p:cNvSpPr txBox="1"/>
          <p:nvPr>
            <p:ph idx="5" type="subTitle"/>
          </p:nvPr>
        </p:nvSpPr>
        <p:spPr>
          <a:xfrm>
            <a:off x="1843206" y="3939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6" type="title"/>
          </p:nvPr>
        </p:nvSpPr>
        <p:spPr>
          <a:xfrm>
            <a:off x="6167681" y="1218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7" type="subTitle"/>
          </p:nvPr>
        </p:nvSpPr>
        <p:spPr>
          <a:xfrm>
            <a:off x="6167681" y="1611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8" type="title"/>
          </p:nvPr>
        </p:nvSpPr>
        <p:spPr>
          <a:xfrm>
            <a:off x="6167681" y="2382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9" type="subTitle"/>
          </p:nvPr>
        </p:nvSpPr>
        <p:spPr>
          <a:xfrm>
            <a:off x="6167681" y="2775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3" type="title"/>
          </p:nvPr>
        </p:nvSpPr>
        <p:spPr>
          <a:xfrm>
            <a:off x="6167681" y="3546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4" type="subTitle"/>
          </p:nvPr>
        </p:nvSpPr>
        <p:spPr>
          <a:xfrm>
            <a:off x="6167681" y="3939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5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2" name="Google Shape;192;p24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93" name="Google Shape;193;p24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24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6" name="Google Shape;196;p24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1546625" y="1307100"/>
            <a:ext cx="60507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9" name="Google Shape;199;p25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00" name="Google Shape;200;p25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5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25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5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5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5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6" name="Google Shape;206;p25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720000" y="1265775"/>
            <a:ext cx="7704000" cy="3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aheim"/>
              <a:buChar char="●"/>
              <a:defRPr b="1"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1" name="Google Shape;211;p26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12" name="Google Shape;212;p26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26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5" name="Google Shape;215;p26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27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7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20" name="Google Shape;220;p27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7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7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7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880000" y="1353625"/>
            <a:ext cx="35712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1" type="subTitle"/>
          </p:nvPr>
        </p:nvSpPr>
        <p:spPr>
          <a:xfrm>
            <a:off x="879825" y="2709575"/>
            <a:ext cx="33537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7" name="Google Shape;227;p28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28" name="Google Shape;228;p28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8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28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8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8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8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4" name="Google Shape;234;p28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719975" y="1922886"/>
            <a:ext cx="37806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8" name="Google Shape;238;p29"/>
          <p:cNvSpPr txBox="1"/>
          <p:nvPr>
            <p:ph idx="2" type="body"/>
          </p:nvPr>
        </p:nvSpPr>
        <p:spPr>
          <a:xfrm>
            <a:off x="4742425" y="1922886"/>
            <a:ext cx="36816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29"/>
          <p:cNvSpPr txBox="1"/>
          <p:nvPr>
            <p:ph type="title"/>
          </p:nvPr>
        </p:nvSpPr>
        <p:spPr>
          <a:xfrm>
            <a:off x="720000" y="1521225"/>
            <a:ext cx="3780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0" name="Google Shape;240;p29"/>
          <p:cNvSpPr txBox="1"/>
          <p:nvPr>
            <p:ph idx="3" type="title"/>
          </p:nvPr>
        </p:nvSpPr>
        <p:spPr>
          <a:xfrm>
            <a:off x="4742425" y="1521225"/>
            <a:ext cx="3681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4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42" name="Google Shape;242;p29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43" name="Google Shape;243;p29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9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9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hasCustomPrompt="1" type="title"/>
          </p:nvPr>
        </p:nvSpPr>
        <p:spPr>
          <a:xfrm>
            <a:off x="713100" y="1249247"/>
            <a:ext cx="77178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8" name="Google Shape;248;p30"/>
          <p:cNvSpPr txBox="1"/>
          <p:nvPr>
            <p:ph idx="1" type="subTitle"/>
          </p:nvPr>
        </p:nvSpPr>
        <p:spPr>
          <a:xfrm>
            <a:off x="2453425" y="3349547"/>
            <a:ext cx="4237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49" name="Google Shape;249;p30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50" name="Google Shape;250;p30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30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30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30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30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30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6" name="Google Shape;256;p30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2244900" y="541072"/>
            <a:ext cx="4654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0" name="Google Shape;260;p31"/>
          <p:cNvSpPr txBox="1"/>
          <p:nvPr>
            <p:ph idx="1" type="subTitle"/>
          </p:nvPr>
        </p:nvSpPr>
        <p:spPr>
          <a:xfrm>
            <a:off x="2139713" y="1434100"/>
            <a:ext cx="486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ria Sans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9pPr>
          </a:lstStyle>
          <a:p/>
        </p:txBody>
      </p:sp>
      <p:sp>
        <p:nvSpPr>
          <p:cNvPr id="261" name="Google Shape;261;p31"/>
          <p:cNvSpPr txBox="1"/>
          <p:nvPr>
            <p:ph idx="2" type="title"/>
          </p:nvPr>
        </p:nvSpPr>
        <p:spPr>
          <a:xfrm>
            <a:off x="1211550" y="1895150"/>
            <a:ext cx="67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2" name="Google Shape;262;p31"/>
          <p:cNvSpPr txBox="1"/>
          <p:nvPr>
            <p:ph idx="3" type="subTitle"/>
          </p:nvPr>
        </p:nvSpPr>
        <p:spPr>
          <a:xfrm>
            <a:off x="2139775" y="2788175"/>
            <a:ext cx="486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ria Sans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4" type="title"/>
          </p:nvPr>
        </p:nvSpPr>
        <p:spPr>
          <a:xfrm>
            <a:off x="2244900" y="3283128"/>
            <a:ext cx="4654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4" name="Google Shape;264;p31"/>
          <p:cNvSpPr txBox="1"/>
          <p:nvPr>
            <p:ph idx="5" type="subTitle"/>
          </p:nvPr>
        </p:nvSpPr>
        <p:spPr>
          <a:xfrm>
            <a:off x="2139713" y="4176150"/>
            <a:ext cx="486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ria Sans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Inria Sans"/>
              <a:buNone/>
              <a:defRPr sz="1500">
                <a:latin typeface="Inria Sans"/>
                <a:ea typeface="Inria Sans"/>
                <a:cs typeface="Inria Sans"/>
                <a:sym typeface="Inria Sans"/>
              </a:defRPr>
            </a:lvl9pPr>
          </a:lstStyle>
          <a:p/>
        </p:txBody>
      </p:sp>
      <p:grpSp>
        <p:nvGrpSpPr>
          <p:cNvPr id="265" name="Google Shape;265;p31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66" name="Google Shape;266;p31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31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31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31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31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31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2" name="Google Shape;272;p31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 rot="10800000">
            <a:off x="-34750" y="-29950"/>
            <a:ext cx="9215400" cy="853500"/>
          </a:xfrm>
          <a:prstGeom prst="rect">
            <a:avLst/>
          </a:prstGeom>
          <a:gradFill>
            <a:gsLst>
              <a:gs pos="0">
                <a:srgbClr val="DDD9D5">
                  <a:alpha val="0"/>
                </a:srgbClr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-34750" y="2591750"/>
            <a:ext cx="9215400" cy="2581500"/>
          </a:xfrm>
          <a:prstGeom prst="rect">
            <a:avLst/>
          </a:prstGeom>
          <a:gradFill>
            <a:gsLst>
              <a:gs pos="0">
                <a:srgbClr val="DDD9D5">
                  <a:alpha val="0"/>
                </a:srgbClr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 txBox="1"/>
          <p:nvPr>
            <p:ph type="title"/>
          </p:nvPr>
        </p:nvSpPr>
        <p:spPr>
          <a:xfrm>
            <a:off x="706350" y="3703875"/>
            <a:ext cx="77313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78" name="Google Shape;278;p32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79" name="Google Shape;279;p32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" name="Google Shape;280;p32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32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32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32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32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5" name="Google Shape;285;p32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>
            <p:ph type="title"/>
          </p:nvPr>
        </p:nvSpPr>
        <p:spPr>
          <a:xfrm flipH="1">
            <a:off x="4638075" y="1477141"/>
            <a:ext cx="36921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9" name="Google Shape;289;p33"/>
          <p:cNvSpPr txBox="1"/>
          <p:nvPr>
            <p:ph idx="1" type="subTitle"/>
          </p:nvPr>
        </p:nvSpPr>
        <p:spPr>
          <a:xfrm flipH="1">
            <a:off x="4637975" y="3130175"/>
            <a:ext cx="35259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0" name="Google Shape;290;p33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91" name="Google Shape;291;p33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33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3" name="Google Shape;293;p33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>
            <p:ph type="title"/>
          </p:nvPr>
        </p:nvSpPr>
        <p:spPr>
          <a:xfrm flipH="1">
            <a:off x="1071619" y="1652134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6" name="Google Shape;296;p34"/>
          <p:cNvSpPr txBox="1"/>
          <p:nvPr>
            <p:ph idx="1" type="subTitle"/>
          </p:nvPr>
        </p:nvSpPr>
        <p:spPr>
          <a:xfrm flipH="1">
            <a:off x="1071619" y="193400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4"/>
          <p:cNvSpPr txBox="1"/>
          <p:nvPr>
            <p:ph idx="2" type="title"/>
          </p:nvPr>
        </p:nvSpPr>
        <p:spPr>
          <a:xfrm flipH="1">
            <a:off x="1071619" y="3284934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8" name="Google Shape;298;p34"/>
          <p:cNvSpPr txBox="1"/>
          <p:nvPr>
            <p:ph idx="3" type="subTitle"/>
          </p:nvPr>
        </p:nvSpPr>
        <p:spPr>
          <a:xfrm flipH="1">
            <a:off x="1071619" y="356680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4"/>
          <p:cNvSpPr txBox="1"/>
          <p:nvPr>
            <p:ph idx="4" type="title"/>
          </p:nvPr>
        </p:nvSpPr>
        <p:spPr>
          <a:xfrm>
            <a:off x="5951681" y="1652134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0" name="Google Shape;300;p34"/>
          <p:cNvSpPr txBox="1"/>
          <p:nvPr>
            <p:ph idx="5" type="subTitle"/>
          </p:nvPr>
        </p:nvSpPr>
        <p:spPr>
          <a:xfrm>
            <a:off x="5951681" y="193400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4"/>
          <p:cNvSpPr txBox="1"/>
          <p:nvPr>
            <p:ph idx="6" type="title"/>
          </p:nvPr>
        </p:nvSpPr>
        <p:spPr>
          <a:xfrm>
            <a:off x="5951681" y="3284934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" name="Google Shape;302;p34"/>
          <p:cNvSpPr txBox="1"/>
          <p:nvPr>
            <p:ph idx="7" type="subTitle"/>
          </p:nvPr>
        </p:nvSpPr>
        <p:spPr>
          <a:xfrm>
            <a:off x="5951681" y="356680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4"/>
          <p:cNvSpPr txBox="1"/>
          <p:nvPr>
            <p:ph idx="8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04" name="Google Shape;304;p34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305" name="Google Shape;305;p34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" name="Google Shape;306;p34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34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34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9" name="Google Shape;309;p34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/>
          <p:nvPr>
            <p:ph type="title"/>
          </p:nvPr>
        </p:nvSpPr>
        <p:spPr>
          <a:xfrm>
            <a:off x="2295150" y="691800"/>
            <a:ext cx="45537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35"/>
          <p:cNvSpPr txBox="1"/>
          <p:nvPr>
            <p:ph idx="1" type="subTitle"/>
          </p:nvPr>
        </p:nvSpPr>
        <p:spPr>
          <a:xfrm>
            <a:off x="2854650" y="1609925"/>
            <a:ext cx="34347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/>
        </p:nvSpPr>
        <p:spPr>
          <a:xfrm>
            <a:off x="2685596" y="3795016"/>
            <a:ext cx="37728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Flaticon</a:t>
            </a:r>
            <a:r>
              <a:rPr b="1" i="0" lang="en" sz="10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and infographics &amp; images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5"/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314" name="Google Shape;314;p35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315" name="Google Shape;315;p35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35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35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35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35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35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1" name="Google Shape;321;p35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fmla="val 12500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7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326" name="Google Shape;326;p37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37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37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9" name="Google Shape;329;p37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8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332" name="Google Shape;332;p38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38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38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5" name="Google Shape;335;p38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fmla="val 12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b="1" i="0" sz="35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ctrTitle"/>
          </p:nvPr>
        </p:nvSpPr>
        <p:spPr>
          <a:xfrm>
            <a:off x="1484100" y="1479650"/>
            <a:ext cx="61758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Stochastic Modeling &amp; Calibration of Indian Equity Markets: From Classical SDEs to PINNs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341" name="Google Shape;341;p39"/>
          <p:cNvSpPr txBox="1"/>
          <p:nvPr>
            <p:ph idx="1" type="subTitle"/>
          </p:nvPr>
        </p:nvSpPr>
        <p:spPr>
          <a:xfrm>
            <a:off x="1724250" y="3265350"/>
            <a:ext cx="5695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highlight>
                  <a:srgbClr val="E2E1E0"/>
                </a:highlight>
                <a:latin typeface="Old Standard TT"/>
                <a:ea typeface="Old Standard TT"/>
                <a:cs typeface="Old Standard TT"/>
                <a:sym typeface="Old Standard TT"/>
              </a:rPr>
              <a:t>A Comparative Study using SDEs, PDEs, and Physics-Informed Neural Networks</a:t>
            </a:r>
            <a:endParaRPr sz="1900">
              <a:highlight>
                <a:srgbClr val="E2E1E0"/>
              </a:highlight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2" name="Google Shape;342;p39"/>
          <p:cNvSpPr txBox="1"/>
          <p:nvPr>
            <p:ph idx="1" type="subTitle"/>
          </p:nvPr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i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3" name="Google Shape;343;p39"/>
          <p:cNvSpPr txBox="1"/>
          <p:nvPr>
            <p:ph idx="1" type="subTitle"/>
          </p:nvPr>
        </p:nvSpPr>
        <p:spPr>
          <a:xfrm>
            <a:off x="0" y="-7950"/>
            <a:ext cx="726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 sz="14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4" name="Google Shape;344;p39"/>
          <p:cNvSpPr txBox="1"/>
          <p:nvPr>
            <p:ph idx="1" type="subTitle"/>
          </p:nvPr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">
                <a:latin typeface="Old Standard TT"/>
                <a:ea typeface="Old Standard TT"/>
                <a:cs typeface="Old Standard TT"/>
                <a:sym typeface="Old Standard TT"/>
              </a:rPr>
              <a:t>Course Instructor:- Dr. Nitu Kumari</a:t>
            </a:r>
            <a:endParaRPr b="1" i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45" name="Google Shape;345;p39"/>
          <p:cNvSpPr txBox="1"/>
          <p:nvPr>
            <p:ph idx="1" type="subTitle"/>
          </p:nvPr>
        </p:nvSpPr>
        <p:spPr>
          <a:xfrm>
            <a:off x="8521600" y="4618675"/>
            <a:ext cx="726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latin typeface="Old Standard TT"/>
                <a:ea typeface="Old Standard TT"/>
                <a:cs typeface="Old Standard TT"/>
                <a:sym typeface="Old Standard TT"/>
              </a:rPr>
              <a:t>2025</a:t>
            </a:r>
            <a:endParaRPr sz="14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"/>
          <p:cNvSpPr txBox="1"/>
          <p:nvPr>
            <p:ph type="title"/>
          </p:nvPr>
        </p:nvSpPr>
        <p:spPr>
          <a:xfrm>
            <a:off x="1380631" y="1148650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51" name="Google Shape;351;p40"/>
          <p:cNvSpPr txBox="1"/>
          <p:nvPr>
            <p:ph idx="2" type="title"/>
          </p:nvPr>
        </p:nvSpPr>
        <p:spPr>
          <a:xfrm>
            <a:off x="4962573" y="2352463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52" name="Google Shape;352;p40"/>
          <p:cNvSpPr txBox="1"/>
          <p:nvPr>
            <p:ph idx="1" type="subTitle"/>
          </p:nvPr>
        </p:nvSpPr>
        <p:spPr>
          <a:xfrm>
            <a:off x="843710" y="1600083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What’s the issue? Why we are working on it?</a:t>
            </a:r>
            <a:endParaRPr/>
          </a:p>
        </p:txBody>
      </p:sp>
      <p:sp>
        <p:nvSpPr>
          <p:cNvPr id="353" name="Google Shape;353;p40"/>
          <p:cNvSpPr txBox="1"/>
          <p:nvPr>
            <p:ph idx="3" type="title"/>
          </p:nvPr>
        </p:nvSpPr>
        <p:spPr>
          <a:xfrm>
            <a:off x="1378248" y="2352463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354" name="Google Shape;354;p40"/>
          <p:cNvSpPr txBox="1"/>
          <p:nvPr>
            <p:ph idx="4" type="title"/>
          </p:nvPr>
        </p:nvSpPr>
        <p:spPr>
          <a:xfrm>
            <a:off x="840948" y="2352463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5" name="Google Shape;355;p40"/>
          <p:cNvSpPr txBox="1"/>
          <p:nvPr>
            <p:ph idx="5" type="subTitle"/>
          </p:nvPr>
        </p:nvSpPr>
        <p:spPr>
          <a:xfrm>
            <a:off x="840947" y="280394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 we are doing?</a:t>
            </a:r>
            <a:endParaRPr/>
          </a:p>
        </p:txBody>
      </p:sp>
      <p:sp>
        <p:nvSpPr>
          <p:cNvPr id="356" name="Google Shape;356;p40"/>
          <p:cNvSpPr txBox="1"/>
          <p:nvPr>
            <p:ph idx="6" type="title"/>
          </p:nvPr>
        </p:nvSpPr>
        <p:spPr>
          <a:xfrm>
            <a:off x="1380631" y="3556275"/>
            <a:ext cx="280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357" name="Google Shape;357;p40"/>
          <p:cNvSpPr txBox="1"/>
          <p:nvPr>
            <p:ph idx="7" type="title"/>
          </p:nvPr>
        </p:nvSpPr>
        <p:spPr>
          <a:xfrm>
            <a:off x="843091" y="3556275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8" name="Google Shape;358;p40"/>
          <p:cNvSpPr txBox="1"/>
          <p:nvPr>
            <p:ph idx="8" type="subTitle"/>
          </p:nvPr>
        </p:nvSpPr>
        <p:spPr>
          <a:xfrm>
            <a:off x="843710" y="400780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Which datasets are we using? Why using that?</a:t>
            </a:r>
            <a:endParaRPr/>
          </a:p>
        </p:txBody>
      </p:sp>
      <p:sp>
        <p:nvSpPr>
          <p:cNvPr id="359" name="Google Shape;359;p40"/>
          <p:cNvSpPr txBox="1"/>
          <p:nvPr>
            <p:ph idx="9" type="title"/>
          </p:nvPr>
        </p:nvSpPr>
        <p:spPr>
          <a:xfrm>
            <a:off x="5502253" y="1148650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60" name="Google Shape;360;p40"/>
          <p:cNvSpPr txBox="1"/>
          <p:nvPr>
            <p:ph idx="13" type="title"/>
          </p:nvPr>
        </p:nvSpPr>
        <p:spPr>
          <a:xfrm>
            <a:off x="4964707" y="1148650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1" name="Google Shape;361;p40"/>
          <p:cNvSpPr txBox="1"/>
          <p:nvPr>
            <p:ph idx="14" type="subTitle"/>
          </p:nvPr>
        </p:nvSpPr>
        <p:spPr>
          <a:xfrm>
            <a:off x="4965334" y="1600083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How we are </a:t>
            </a:r>
            <a:r>
              <a:rPr lang="en"/>
              <a:t>approaching the solution?</a:t>
            </a:r>
            <a:endParaRPr/>
          </a:p>
        </p:txBody>
      </p:sp>
      <p:sp>
        <p:nvSpPr>
          <p:cNvPr id="362" name="Google Shape;362;p40"/>
          <p:cNvSpPr txBox="1"/>
          <p:nvPr>
            <p:ph idx="15" type="title"/>
          </p:nvPr>
        </p:nvSpPr>
        <p:spPr>
          <a:xfrm>
            <a:off x="5499872" y="2352463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63" name="Google Shape;363;p40"/>
          <p:cNvSpPr txBox="1"/>
          <p:nvPr>
            <p:ph idx="16" type="title"/>
          </p:nvPr>
        </p:nvSpPr>
        <p:spPr>
          <a:xfrm>
            <a:off x="843091" y="1148650"/>
            <a:ext cx="53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4" name="Google Shape;364;p40"/>
          <p:cNvSpPr txBox="1"/>
          <p:nvPr>
            <p:ph idx="17" type="subTitle"/>
          </p:nvPr>
        </p:nvSpPr>
        <p:spPr>
          <a:xfrm>
            <a:off x="4962571" y="280394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 we got? Why we got?</a:t>
            </a:r>
            <a:endParaRPr/>
          </a:p>
        </p:txBody>
      </p:sp>
      <p:sp>
        <p:nvSpPr>
          <p:cNvPr id="365" name="Google Shape;365;p40"/>
          <p:cNvSpPr txBox="1"/>
          <p:nvPr>
            <p:ph idx="18" type="title"/>
          </p:nvPr>
        </p:nvSpPr>
        <p:spPr>
          <a:xfrm>
            <a:off x="5502253" y="3556275"/>
            <a:ext cx="280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66" name="Google Shape;366;p40"/>
          <p:cNvSpPr txBox="1"/>
          <p:nvPr>
            <p:ph idx="19" type="title"/>
          </p:nvPr>
        </p:nvSpPr>
        <p:spPr>
          <a:xfrm>
            <a:off x="4964707" y="3556275"/>
            <a:ext cx="535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67" name="Google Shape;367;p40"/>
          <p:cNvSpPr txBox="1"/>
          <p:nvPr>
            <p:ph idx="20" type="subTitle"/>
          </p:nvPr>
        </p:nvSpPr>
        <p:spPr>
          <a:xfrm>
            <a:off x="4965334" y="4007804"/>
            <a:ext cx="280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Where are we? What can we do further? Can we improve it further?</a:t>
            </a:r>
            <a:endParaRPr/>
          </a:p>
        </p:txBody>
      </p:sp>
      <p:sp>
        <p:nvSpPr>
          <p:cNvPr id="368" name="Google Shape;368;p40"/>
          <p:cNvSpPr txBox="1"/>
          <p:nvPr>
            <p:ph idx="21" type="title"/>
          </p:nvPr>
        </p:nvSpPr>
        <p:spPr>
          <a:xfrm>
            <a:off x="720000" y="602050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69" name="Google Shape;369;p40"/>
          <p:cNvSpPr txBox="1"/>
          <p:nvPr/>
        </p:nvSpPr>
        <p:spPr>
          <a:xfrm>
            <a:off x="3079225" y="150275"/>
            <a:ext cx="19968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i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5" name="Google Shape;375;p41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76" name="Google Shape;376;p41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Classical Structure broken by Indian Equity Market</a:t>
            </a:r>
            <a:endParaRPr/>
          </a:p>
        </p:txBody>
      </p:sp>
      <p:sp>
        <p:nvSpPr>
          <p:cNvPr id="377" name="Google Shape;377;p41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79" name="Google Shape;379;p41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80" name="Google Shape;380;p41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7/11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86" name="Google Shape;386;p42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87" name="Google Shape;387;p42"/>
          <p:cNvSpPr txBox="1"/>
          <p:nvPr>
            <p:ph idx="4" type="title"/>
          </p:nvPr>
        </p:nvSpPr>
        <p:spPr>
          <a:xfrm>
            <a:off x="720000" y="611538"/>
            <a:ext cx="7704000" cy="622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Classical Models</a:t>
            </a:r>
            <a:endParaRPr/>
          </a:p>
        </p:txBody>
      </p:sp>
      <p:sp>
        <p:nvSpPr>
          <p:cNvPr id="388" name="Google Shape;388;p42"/>
          <p:cNvSpPr txBox="1"/>
          <p:nvPr/>
        </p:nvSpPr>
        <p:spPr>
          <a:xfrm>
            <a:off x="841750" y="1410100"/>
            <a:ext cx="39846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Classical GBM: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Assumes Normal 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returns &amp; constant volatility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Heston-FP: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Adds some volatility but still risky assumptions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841750" y="3116175"/>
            <a:ext cx="39846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Indian Equity Market: 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Complex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Non-linear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Regime-switching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90" name="Google Shape;390;p42"/>
          <p:cNvSpPr txBox="1"/>
          <p:nvPr/>
        </p:nvSpPr>
        <p:spPr>
          <a:xfrm>
            <a:off x="5254300" y="1318025"/>
            <a:ext cx="33696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Indian Equity data shows: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Fat tails &amp; excess kurtosis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Negative skewness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Volatility clustering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Frequent structural breaks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Leading major underestimation of risk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4255850" y="3796175"/>
            <a:ext cx="43176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</a:pPr>
            <a:r>
              <a:rPr lang="en"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GBM underestimates, bad risk management</a:t>
            </a:r>
            <a:endParaRPr sz="1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</a:pPr>
            <a:r>
              <a:rPr lang="en"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We need to capture full probability distributions, not just returns</a:t>
            </a:r>
            <a:endParaRPr sz="1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7" name="Google Shape;397;p43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 Objective</a:t>
            </a:r>
            <a:endParaRPr/>
          </a:p>
        </p:txBody>
      </p:sp>
      <p:sp>
        <p:nvSpPr>
          <p:cNvPr id="398" name="Google Shape;398;p43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 we did?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How we did?</a:t>
            </a:r>
            <a:endParaRPr/>
          </a:p>
        </p:txBody>
      </p:sp>
      <p:sp>
        <p:nvSpPr>
          <p:cNvPr id="399" name="Google Shape;399;p43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00" name="Google Shape;400;p43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01" name="Google Shape;401;p43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02" name="Google Shape;402;p43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"/>
          <p:cNvSpPr txBox="1"/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 We Did?</a:t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3335200" y="1283762"/>
            <a:ext cx="607500" cy="60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5316287" y="1283762"/>
            <a:ext cx="607500" cy="60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7297375" y="1283762"/>
            <a:ext cx="607500" cy="60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411" name="Google Shape;411;p44"/>
          <p:cNvSpPr/>
          <p:nvPr/>
        </p:nvSpPr>
        <p:spPr>
          <a:xfrm>
            <a:off x="1354112" y="1283762"/>
            <a:ext cx="607500" cy="60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412" name="Google Shape;412;p44"/>
          <p:cNvSpPr txBox="1"/>
          <p:nvPr/>
        </p:nvSpPr>
        <p:spPr>
          <a:xfrm>
            <a:off x="829400" y="2285950"/>
            <a:ext cx="1656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Test empirical validity of GBM</a:t>
            </a:r>
            <a:b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</a:b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13" name="Google Shape;413;p44"/>
          <p:cNvSpPr txBox="1"/>
          <p:nvPr/>
        </p:nvSpPr>
        <p:spPr>
          <a:xfrm>
            <a:off x="829400" y="207400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GBM-1</a:t>
            </a:r>
            <a:endParaRPr b="1" i="0" sz="18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1184575" y="143062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01</a:t>
            </a:r>
            <a:endParaRPr b="1" baseline="30000" i="0" sz="22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15" name="Google Shape;415;p44"/>
          <p:cNvSpPr txBox="1"/>
          <p:nvPr/>
        </p:nvSpPr>
        <p:spPr>
          <a:xfrm>
            <a:off x="2810501" y="2285950"/>
            <a:ext cx="17664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Stochastic volatility via Heston FP solver</a:t>
            </a:r>
            <a:endParaRPr b="0" i="0" sz="14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16" name="Google Shape;416;p44"/>
          <p:cNvSpPr txBox="1"/>
          <p:nvPr/>
        </p:nvSpPr>
        <p:spPr>
          <a:xfrm>
            <a:off x="2810483" y="207400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Stochastic-2</a:t>
            </a:r>
            <a:endParaRPr b="1" i="0" sz="18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3165686" y="143062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02</a:t>
            </a:r>
            <a:endParaRPr b="1" baseline="30000" i="0" sz="22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18" name="Google Shape;418;p44"/>
          <p:cNvSpPr txBox="1"/>
          <p:nvPr/>
        </p:nvSpPr>
        <p:spPr>
          <a:xfrm>
            <a:off x="4682075" y="2285950"/>
            <a:ext cx="17664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KDE+Regimes+EVT for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data-driven tail behaviour</a:t>
            </a:r>
            <a:endParaRPr b="0" i="0" sz="14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19" name="Google Shape;419;p44"/>
          <p:cNvSpPr txBox="1"/>
          <p:nvPr/>
        </p:nvSpPr>
        <p:spPr>
          <a:xfrm>
            <a:off x="4791573" y="207400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Empirical-3</a:t>
            </a:r>
            <a:endParaRPr b="1" i="0" sz="18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5146774" y="143062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03</a:t>
            </a:r>
            <a:endParaRPr b="1" baseline="30000" i="0" sz="22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6772675" y="2285950"/>
            <a:ext cx="2082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Inverse-FP via PINNs to learn drift, diffusion, probability directly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2" name="Google Shape;422;p44"/>
          <p:cNvSpPr txBox="1"/>
          <p:nvPr/>
        </p:nvSpPr>
        <p:spPr>
          <a:xfrm>
            <a:off x="6772675" y="207400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PINN-4</a:t>
            </a:r>
            <a:endParaRPr b="1" i="0" sz="18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7127875" y="143062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04</a:t>
            </a:r>
            <a:endParaRPr b="1" baseline="30000" i="0" sz="2200" u="none" cap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24" name="Google Shape;424;p44"/>
          <p:cNvCxnSpPr/>
          <p:nvPr/>
        </p:nvCxnSpPr>
        <p:spPr>
          <a:xfrm>
            <a:off x="853700" y="1988625"/>
            <a:ext cx="757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44"/>
          <p:cNvCxnSpPr>
            <a:stCxn id="411" idx="2"/>
            <a:endCxn id="413" idx="0"/>
          </p:cNvCxnSpPr>
          <p:nvPr/>
        </p:nvCxnSpPr>
        <p:spPr>
          <a:xfrm>
            <a:off x="1657862" y="1891562"/>
            <a:ext cx="0" cy="1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44"/>
          <p:cNvCxnSpPr>
            <a:stCxn id="408" idx="2"/>
            <a:endCxn id="416" idx="0"/>
          </p:cNvCxnSpPr>
          <p:nvPr/>
        </p:nvCxnSpPr>
        <p:spPr>
          <a:xfrm>
            <a:off x="3638950" y="1891562"/>
            <a:ext cx="0" cy="1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44"/>
          <p:cNvCxnSpPr>
            <a:stCxn id="409" idx="2"/>
            <a:endCxn id="419" idx="0"/>
          </p:cNvCxnSpPr>
          <p:nvPr/>
        </p:nvCxnSpPr>
        <p:spPr>
          <a:xfrm>
            <a:off x="5620037" y="1891562"/>
            <a:ext cx="0" cy="1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44"/>
          <p:cNvCxnSpPr>
            <a:stCxn id="410" idx="2"/>
            <a:endCxn id="422" idx="0"/>
          </p:cNvCxnSpPr>
          <p:nvPr/>
        </p:nvCxnSpPr>
        <p:spPr>
          <a:xfrm>
            <a:off x="7601125" y="1891562"/>
            <a:ext cx="0" cy="1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44"/>
          <p:cNvSpPr txBox="1"/>
          <p:nvPr/>
        </p:nvSpPr>
        <p:spPr>
          <a:xfrm>
            <a:off x="720000" y="4325475"/>
            <a:ext cx="8483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Shift from parametric models to an data driven model that reveals complex regimes, tail risks, and non-linear dynamics of Indian equities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3195100" y="132450"/>
            <a:ext cx="25494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31" name="Google Shape;431;p44"/>
          <p:cNvSpPr txBox="1"/>
          <p:nvPr/>
        </p:nvSpPr>
        <p:spPr>
          <a:xfrm>
            <a:off x="829400" y="3123013"/>
            <a:ext cx="1452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Calibrate &amp; show Gaussian assumptions fail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2" name="Google Shape;432;p44"/>
          <p:cNvSpPr txBox="1"/>
          <p:nvPr/>
        </p:nvSpPr>
        <p:spPr>
          <a:xfrm>
            <a:off x="2606775" y="3153875"/>
            <a:ext cx="16143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 stochastic volatility, compute densities, realism with a FP solver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3" name="Google Shape;433;p44"/>
          <p:cNvSpPr txBox="1"/>
          <p:nvPr/>
        </p:nvSpPr>
        <p:spPr>
          <a:xfrm>
            <a:off x="4682075" y="3123013"/>
            <a:ext cx="1766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Advanced statistics* (KDE, EVT) to find the 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behavior 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without any assumptions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4" name="Google Shape;434;p44"/>
          <p:cNvSpPr txBox="1"/>
          <p:nvPr/>
        </p:nvSpPr>
        <p:spPr>
          <a:xfrm>
            <a:off x="6814375" y="3153875"/>
            <a:ext cx="1766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PINN discovers the underlying laws directly from data, Inv-FP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5" name="Google Shape;435;p44"/>
          <p:cNvSpPr txBox="1"/>
          <p:nvPr/>
        </p:nvSpPr>
        <p:spPr>
          <a:xfrm flipH="1" rot="5400000">
            <a:off x="-633875" y="4158150"/>
            <a:ext cx="1748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*Regime detection + Extreme Value Theory</a:t>
            </a:r>
            <a:endParaRPr sz="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41" name="Google Shape;441;p45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442" name="Google Shape;442;p45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Main target market?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Companies Selected?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Selected?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45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44" name="Google Shape;444;p45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45" name="Google Shape;445;p45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46" name="Google Shape;446;p45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"/>
          <p:cNvSpPr txBox="1"/>
          <p:nvPr>
            <p:ph idx="15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Data C</a:t>
            </a:r>
            <a:r>
              <a:rPr lang="en"/>
              <a:t>haracteristics </a:t>
            </a:r>
            <a:endParaRPr/>
          </a:p>
        </p:txBody>
      </p:sp>
      <p:sp>
        <p:nvSpPr>
          <p:cNvPr id="452" name="Google Shape;452;p46"/>
          <p:cNvSpPr txBox="1"/>
          <p:nvPr>
            <p:ph type="title"/>
          </p:nvPr>
        </p:nvSpPr>
        <p:spPr>
          <a:xfrm>
            <a:off x="1843206" y="1218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Entities</a:t>
            </a:r>
            <a:endParaRPr/>
          </a:p>
        </p:txBody>
      </p:sp>
      <p:sp>
        <p:nvSpPr>
          <p:cNvPr id="453" name="Google Shape;453;p46"/>
          <p:cNvSpPr txBox="1"/>
          <p:nvPr>
            <p:ph idx="1" type="subTitle"/>
          </p:nvPr>
        </p:nvSpPr>
        <p:spPr>
          <a:xfrm>
            <a:off x="1843206" y="1611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Nifty-50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14 Large Caps</a:t>
            </a:r>
            <a:endParaRPr/>
          </a:p>
        </p:txBody>
      </p:sp>
      <p:sp>
        <p:nvSpPr>
          <p:cNvPr id="454" name="Google Shape;454;p46"/>
          <p:cNvSpPr txBox="1"/>
          <p:nvPr>
            <p:ph idx="2" type="title"/>
          </p:nvPr>
        </p:nvSpPr>
        <p:spPr>
          <a:xfrm>
            <a:off x="1843206" y="2382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Time period</a:t>
            </a:r>
            <a:endParaRPr/>
          </a:p>
        </p:txBody>
      </p:sp>
      <p:sp>
        <p:nvSpPr>
          <p:cNvPr id="455" name="Google Shape;455;p46"/>
          <p:cNvSpPr txBox="1"/>
          <p:nvPr>
            <p:ph idx="3" type="subTitle"/>
          </p:nvPr>
        </p:nvSpPr>
        <p:spPr>
          <a:xfrm>
            <a:off x="1843199" y="2775850"/>
            <a:ext cx="235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 years, 2660 Days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Jan’2015 - Sept’2025</a:t>
            </a:r>
            <a:endParaRPr/>
          </a:p>
        </p:txBody>
      </p:sp>
      <p:sp>
        <p:nvSpPr>
          <p:cNvPr id="456" name="Google Shape;456;p46"/>
          <p:cNvSpPr txBox="1"/>
          <p:nvPr>
            <p:ph idx="4" type="title"/>
          </p:nvPr>
        </p:nvSpPr>
        <p:spPr>
          <a:xfrm>
            <a:off x="1843206" y="3546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Authenticity</a:t>
            </a:r>
            <a:endParaRPr/>
          </a:p>
        </p:txBody>
      </p:sp>
      <p:sp>
        <p:nvSpPr>
          <p:cNvPr id="457" name="Google Shape;457;p46"/>
          <p:cNvSpPr txBox="1"/>
          <p:nvPr>
            <p:ph idx="5" type="subTitle"/>
          </p:nvPr>
        </p:nvSpPr>
        <p:spPr>
          <a:xfrm>
            <a:off x="1843206" y="3939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Clean, Corporate-action adjusted dataset</a:t>
            </a:r>
            <a:endParaRPr/>
          </a:p>
        </p:txBody>
      </p:sp>
      <p:sp>
        <p:nvSpPr>
          <p:cNvPr id="458" name="Google Shape;458;p46"/>
          <p:cNvSpPr txBox="1"/>
          <p:nvPr>
            <p:ph idx="6" type="title"/>
          </p:nvPr>
        </p:nvSpPr>
        <p:spPr>
          <a:xfrm>
            <a:off x="6167681" y="1218250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Sectors</a:t>
            </a:r>
            <a:endParaRPr/>
          </a:p>
        </p:txBody>
      </p:sp>
      <p:sp>
        <p:nvSpPr>
          <p:cNvPr id="459" name="Google Shape;459;p46"/>
          <p:cNvSpPr txBox="1"/>
          <p:nvPr>
            <p:ph idx="7" type="subTitle"/>
          </p:nvPr>
        </p:nvSpPr>
        <p:spPr>
          <a:xfrm>
            <a:off x="6167681" y="1611850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Banking, IT, Metals, FMCG, Energy</a:t>
            </a:r>
            <a:endParaRPr/>
          </a:p>
        </p:txBody>
      </p:sp>
      <p:sp>
        <p:nvSpPr>
          <p:cNvPr id="460" name="Google Shape;460;p46"/>
          <p:cNvSpPr txBox="1"/>
          <p:nvPr>
            <p:ph idx="13" type="title"/>
          </p:nvPr>
        </p:nvSpPr>
        <p:spPr>
          <a:xfrm>
            <a:off x="6078531" y="2409075"/>
            <a:ext cx="212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461" name="Google Shape;461;p46"/>
          <p:cNvSpPr txBox="1"/>
          <p:nvPr>
            <p:ph idx="14" type="subTitle"/>
          </p:nvPr>
        </p:nvSpPr>
        <p:spPr>
          <a:xfrm>
            <a:off x="6078524" y="2802675"/>
            <a:ext cx="241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Price, Returns, Volatility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Intraday too</a:t>
            </a:r>
            <a:endParaRPr/>
          </a:p>
        </p:txBody>
      </p:sp>
      <p:sp>
        <p:nvSpPr>
          <p:cNvPr id="462" name="Google Shape;462;p46"/>
          <p:cNvSpPr/>
          <p:nvPr/>
        </p:nvSpPr>
        <p:spPr>
          <a:xfrm>
            <a:off x="855619" y="1417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855619" y="2581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855619" y="3745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5180094" y="1417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5090944" y="2607958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6"/>
          <p:cNvSpPr/>
          <p:nvPr/>
        </p:nvSpPr>
        <p:spPr>
          <a:xfrm>
            <a:off x="5309410" y="1539064"/>
            <a:ext cx="363548" cy="370909"/>
          </a:xfrm>
          <a:custGeom>
            <a:rect b="b" l="l" r="r" t="t"/>
            <a:pathLst>
              <a:path extrusionOk="0" h="12698" w="12446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46"/>
          <p:cNvGrpSpPr/>
          <p:nvPr/>
        </p:nvGrpSpPr>
        <p:grpSpPr>
          <a:xfrm>
            <a:off x="1021296" y="3874594"/>
            <a:ext cx="290815" cy="369740"/>
            <a:chOff x="-37370925" y="3579105"/>
            <a:chExt cx="248900" cy="316450"/>
          </a:xfrm>
        </p:grpSpPr>
        <p:sp>
          <p:nvSpPr>
            <p:cNvPr id="469" name="Google Shape;469;p46"/>
            <p:cNvSpPr/>
            <p:nvPr/>
          </p:nvSpPr>
          <p:spPr>
            <a:xfrm>
              <a:off x="-37268550" y="3671055"/>
              <a:ext cx="83525" cy="82525"/>
            </a:xfrm>
            <a:custGeom>
              <a:rect b="b" l="l" r="r" t="t"/>
              <a:pathLst>
                <a:path extrusionOk="0" h="3301" w="3341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-37370925" y="3579105"/>
              <a:ext cx="248900" cy="316450"/>
            </a:xfrm>
            <a:custGeom>
              <a:rect b="b" l="l" r="r" t="t"/>
              <a:pathLst>
                <a:path extrusionOk="0" h="12658" w="9956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46"/>
          <p:cNvSpPr/>
          <p:nvPr/>
        </p:nvSpPr>
        <p:spPr>
          <a:xfrm>
            <a:off x="1033708" y="2707700"/>
            <a:ext cx="265986" cy="369039"/>
          </a:xfrm>
          <a:custGeom>
            <a:rect b="b" l="l" r="r" t="t"/>
            <a:pathLst>
              <a:path extrusionOk="0" h="12634" w="9106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6"/>
          <p:cNvSpPr/>
          <p:nvPr/>
        </p:nvSpPr>
        <p:spPr>
          <a:xfrm>
            <a:off x="1008891" y="1539870"/>
            <a:ext cx="315672" cy="369974"/>
          </a:xfrm>
          <a:custGeom>
            <a:rect b="b" l="l" r="r" t="t"/>
            <a:pathLst>
              <a:path extrusionOk="0" h="12666" w="10807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p46"/>
          <p:cNvGrpSpPr/>
          <p:nvPr/>
        </p:nvGrpSpPr>
        <p:grpSpPr>
          <a:xfrm>
            <a:off x="5222732" y="2737434"/>
            <a:ext cx="358640" cy="363226"/>
            <a:chOff x="-42617300" y="3587775"/>
            <a:chExt cx="306950" cy="310875"/>
          </a:xfrm>
        </p:grpSpPr>
        <p:sp>
          <p:nvSpPr>
            <p:cNvPr id="474" name="Google Shape;474;p46"/>
            <p:cNvSpPr/>
            <p:nvPr/>
          </p:nvSpPr>
          <p:spPr>
            <a:xfrm>
              <a:off x="-42617300" y="3587775"/>
              <a:ext cx="306950" cy="310875"/>
            </a:xfrm>
            <a:custGeom>
              <a:rect b="b" l="l" r="r" t="t"/>
              <a:pathLst>
                <a:path extrusionOk="0" h="12435" w="12278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-42500725" y="3712425"/>
              <a:ext cx="63025" cy="62275"/>
            </a:xfrm>
            <a:custGeom>
              <a:rect b="b" l="l" r="r" t="t"/>
              <a:pathLst>
                <a:path extrusionOk="0" h="2491" w="2521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1" name="Google Shape;481;p47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82" name="Google Shape;482;p47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What’s our way?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How it’s being done?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47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4" name="Google Shape;484;p47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5" name="Google Shape;485;p47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8"/>
          <p:cNvSpPr txBox="1"/>
          <p:nvPr>
            <p:ph idx="8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Four-Phase Framework</a:t>
            </a:r>
            <a:endParaRPr/>
          </a:p>
        </p:txBody>
      </p:sp>
      <p:sp>
        <p:nvSpPr>
          <p:cNvPr id="492" name="Google Shape;492;p48"/>
          <p:cNvSpPr txBox="1"/>
          <p:nvPr>
            <p:ph type="title"/>
          </p:nvPr>
        </p:nvSpPr>
        <p:spPr>
          <a:xfrm flipH="1">
            <a:off x="342627" y="1652125"/>
            <a:ext cx="284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1. Baseline Validation </a:t>
            </a:r>
            <a:endParaRPr/>
          </a:p>
        </p:txBody>
      </p:sp>
      <p:sp>
        <p:nvSpPr>
          <p:cNvPr id="493" name="Google Shape;493;p48"/>
          <p:cNvSpPr txBox="1"/>
          <p:nvPr>
            <p:ph idx="1" type="subTitle"/>
          </p:nvPr>
        </p:nvSpPr>
        <p:spPr>
          <a:xfrm flipH="1">
            <a:off x="422727" y="1934000"/>
            <a:ext cx="276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Test GBM assumptions by MLE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b.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Prove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statistical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Failures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4" name="Google Shape;494;p48"/>
          <p:cNvSpPr txBox="1"/>
          <p:nvPr>
            <p:ph idx="2" type="title"/>
          </p:nvPr>
        </p:nvSpPr>
        <p:spPr>
          <a:xfrm flipH="1">
            <a:off x="235527" y="3284925"/>
            <a:ext cx="295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2. Stochastic Volatility</a:t>
            </a:r>
            <a:endParaRPr/>
          </a:p>
        </p:txBody>
      </p:sp>
      <p:sp>
        <p:nvSpPr>
          <p:cNvPr id="495" name="Google Shape;495;p48"/>
          <p:cNvSpPr txBox="1"/>
          <p:nvPr>
            <p:ph idx="3" type="subTitle"/>
          </p:nvPr>
        </p:nvSpPr>
        <p:spPr>
          <a:xfrm flipH="1">
            <a:off x="-165575" y="3566800"/>
            <a:ext cx="33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Add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stochasticity in Heston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b.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Solve 2D FP Equation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Full dist(VaR, ES, skew, tails)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6" name="Google Shape;496;p48"/>
          <p:cNvSpPr txBox="1"/>
          <p:nvPr>
            <p:ph idx="4" type="title"/>
          </p:nvPr>
        </p:nvSpPr>
        <p:spPr>
          <a:xfrm>
            <a:off x="5951675" y="1652125"/>
            <a:ext cx="302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3. </a:t>
            </a:r>
            <a:r>
              <a:rPr lang="en"/>
              <a:t>Empirical</a:t>
            </a:r>
            <a:r>
              <a:rPr lang="en"/>
              <a:t> Analysis</a:t>
            </a:r>
            <a:endParaRPr/>
          </a:p>
        </p:txBody>
      </p:sp>
      <p:sp>
        <p:nvSpPr>
          <p:cNvPr id="497" name="Google Shape;497;p48"/>
          <p:cNvSpPr txBox="1"/>
          <p:nvPr>
            <p:ph idx="5" type="subTitle"/>
          </p:nvPr>
        </p:nvSpPr>
        <p:spPr>
          <a:xfrm>
            <a:off x="5951675" y="1934000"/>
            <a:ext cx="2574000" cy="2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Regime detection (PELT)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b.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Model extreme tails (EVT)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Volatility-normalized KDE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d.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Data Driven ground truth density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8" name="Google Shape;498;p48"/>
          <p:cNvSpPr txBox="1"/>
          <p:nvPr>
            <p:ph idx="6" type="title"/>
          </p:nvPr>
        </p:nvSpPr>
        <p:spPr>
          <a:xfrm>
            <a:off x="5951674" y="3284925"/>
            <a:ext cx="236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4. PINN(Inv-FP)</a:t>
            </a:r>
            <a:endParaRPr/>
          </a:p>
        </p:txBody>
      </p:sp>
      <p:sp>
        <p:nvSpPr>
          <p:cNvPr id="499" name="Google Shape;499;p48"/>
          <p:cNvSpPr txBox="1"/>
          <p:nvPr>
            <p:ph idx="7" type="subTitle"/>
          </p:nvPr>
        </p:nvSpPr>
        <p:spPr>
          <a:xfrm>
            <a:off x="5951675" y="3566800"/>
            <a:ext cx="28860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Drift/Diffs directly from data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b.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Embed FP PDE into training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.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Interpretable, non-parametric market dynamics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0" name="Google Shape;500;p48"/>
          <p:cNvSpPr/>
          <p:nvPr/>
        </p:nvSpPr>
        <p:spPr>
          <a:xfrm flipH="1">
            <a:off x="3557706" y="173928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1" name="Google Shape;501;p48"/>
          <p:cNvSpPr/>
          <p:nvPr/>
        </p:nvSpPr>
        <p:spPr>
          <a:xfrm flipH="1">
            <a:off x="3557706" y="337208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2" name="Google Shape;502;p48"/>
          <p:cNvSpPr/>
          <p:nvPr/>
        </p:nvSpPr>
        <p:spPr>
          <a:xfrm>
            <a:off x="4964094" y="173928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3" name="Google Shape;503;p48"/>
          <p:cNvSpPr/>
          <p:nvPr/>
        </p:nvSpPr>
        <p:spPr>
          <a:xfrm>
            <a:off x="4964094" y="337208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504" name="Google Shape;504;p48"/>
          <p:cNvGrpSpPr/>
          <p:nvPr/>
        </p:nvGrpSpPr>
        <p:grpSpPr>
          <a:xfrm>
            <a:off x="5089752" y="3514299"/>
            <a:ext cx="370879" cy="337755"/>
            <a:chOff x="-40378075" y="3267450"/>
            <a:chExt cx="317425" cy="289075"/>
          </a:xfrm>
        </p:grpSpPr>
        <p:sp>
          <p:nvSpPr>
            <p:cNvPr id="505" name="Google Shape;505;p48"/>
            <p:cNvSpPr/>
            <p:nvPr/>
          </p:nvSpPr>
          <p:spPr>
            <a:xfrm>
              <a:off x="-40218975" y="3308400"/>
              <a:ext cx="158325" cy="248125"/>
            </a:xfrm>
            <a:custGeom>
              <a:rect b="b" l="l" r="r" t="t"/>
              <a:pathLst>
                <a:path extrusionOk="0" h="9925" w="6333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-40316650" y="3267450"/>
              <a:ext cx="86675" cy="257575"/>
            </a:xfrm>
            <a:custGeom>
              <a:rect b="b" l="l" r="r" t="t"/>
              <a:pathLst>
                <a:path extrusionOk="0" h="10303" w="3467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07" name="Google Shape;507;p48"/>
            <p:cNvSpPr/>
            <p:nvPr/>
          </p:nvSpPr>
          <p:spPr>
            <a:xfrm>
              <a:off x="-40209525" y="3267450"/>
              <a:ext cx="86650" cy="257575"/>
            </a:xfrm>
            <a:custGeom>
              <a:rect b="b" l="l" r="r" t="t"/>
              <a:pathLst>
                <a:path extrusionOk="0" h="10303" w="3466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08" name="Google Shape;508;p48"/>
            <p:cNvSpPr/>
            <p:nvPr/>
          </p:nvSpPr>
          <p:spPr>
            <a:xfrm>
              <a:off x="-40378075" y="3308400"/>
              <a:ext cx="157550" cy="248125"/>
            </a:xfrm>
            <a:custGeom>
              <a:rect b="b" l="l" r="r" t="t"/>
              <a:pathLst>
                <a:path extrusionOk="0" h="9925" w="6302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509" name="Google Shape;509;p48"/>
          <p:cNvGrpSpPr/>
          <p:nvPr/>
        </p:nvGrpSpPr>
        <p:grpSpPr>
          <a:xfrm>
            <a:off x="3687074" y="1865390"/>
            <a:ext cx="363548" cy="369974"/>
            <a:chOff x="-40372575" y="3604550"/>
            <a:chExt cx="311150" cy="316650"/>
          </a:xfrm>
        </p:grpSpPr>
        <p:sp>
          <p:nvSpPr>
            <p:cNvPr id="510" name="Google Shape;510;p48"/>
            <p:cNvSpPr/>
            <p:nvPr/>
          </p:nvSpPr>
          <p:spPr>
            <a:xfrm>
              <a:off x="-40372575" y="3604550"/>
              <a:ext cx="311150" cy="134475"/>
            </a:xfrm>
            <a:custGeom>
              <a:rect b="b" l="l" r="r" t="t"/>
              <a:pathLst>
                <a:path extrusionOk="0" h="5379" w="12446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11" name="Google Shape;511;p48"/>
            <p:cNvSpPr/>
            <p:nvPr/>
          </p:nvSpPr>
          <p:spPr>
            <a:xfrm>
              <a:off x="-40312700" y="3730575"/>
              <a:ext cx="185100" cy="190625"/>
            </a:xfrm>
            <a:custGeom>
              <a:rect b="b" l="l" r="r" t="t"/>
              <a:pathLst>
                <a:path extrusionOk="0" h="7625" w="7404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12" name="Google Shape;512;p48"/>
            <p:cNvSpPr/>
            <p:nvPr/>
          </p:nvSpPr>
          <p:spPr>
            <a:xfrm>
              <a:off x="-40250475" y="3688025"/>
              <a:ext cx="66950" cy="20500"/>
            </a:xfrm>
            <a:custGeom>
              <a:rect b="b" l="l" r="r" t="t"/>
              <a:pathLst>
                <a:path extrusionOk="0" h="820" w="2678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513" name="Google Shape;513;p48"/>
          <p:cNvGrpSpPr/>
          <p:nvPr/>
        </p:nvGrpSpPr>
        <p:grpSpPr>
          <a:xfrm>
            <a:off x="5090224" y="1865849"/>
            <a:ext cx="369974" cy="369068"/>
            <a:chOff x="-38537400" y="3588000"/>
            <a:chExt cx="316650" cy="315875"/>
          </a:xfrm>
        </p:grpSpPr>
        <p:sp>
          <p:nvSpPr>
            <p:cNvPr id="514" name="Google Shape;514;p48"/>
            <p:cNvSpPr/>
            <p:nvPr/>
          </p:nvSpPr>
          <p:spPr>
            <a:xfrm>
              <a:off x="-38327900" y="3719550"/>
              <a:ext cx="20500" cy="41750"/>
            </a:xfrm>
            <a:custGeom>
              <a:rect b="b" l="l" r="r" t="t"/>
              <a:pathLst>
                <a:path extrusionOk="0" h="1670" w="82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15" name="Google Shape;515;p48"/>
            <p:cNvSpPr/>
            <p:nvPr/>
          </p:nvSpPr>
          <p:spPr>
            <a:xfrm>
              <a:off x="-38452350" y="3719550"/>
              <a:ext cx="21300" cy="41750"/>
            </a:xfrm>
            <a:custGeom>
              <a:rect b="b" l="l" r="r" t="t"/>
              <a:pathLst>
                <a:path extrusionOk="0" h="1670" w="852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16" name="Google Shape;516;p48"/>
            <p:cNvSpPr/>
            <p:nvPr/>
          </p:nvSpPr>
          <p:spPr>
            <a:xfrm>
              <a:off x="-38516925" y="3759700"/>
              <a:ext cx="275700" cy="144175"/>
            </a:xfrm>
            <a:custGeom>
              <a:rect b="b" l="l" r="r" t="t"/>
              <a:pathLst>
                <a:path extrusionOk="0" h="5767" w="11028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17" name="Google Shape;517;p48"/>
            <p:cNvSpPr/>
            <p:nvPr/>
          </p:nvSpPr>
          <p:spPr>
            <a:xfrm>
              <a:off x="-38537400" y="3588000"/>
              <a:ext cx="316650" cy="151250"/>
            </a:xfrm>
            <a:custGeom>
              <a:rect b="b" l="l" r="r" t="t"/>
              <a:pathLst>
                <a:path extrusionOk="0" h="6050" w="12666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518" name="Google Shape;518;p48"/>
          <p:cNvGrpSpPr/>
          <p:nvPr/>
        </p:nvGrpSpPr>
        <p:grpSpPr>
          <a:xfrm>
            <a:off x="3684733" y="3497269"/>
            <a:ext cx="368134" cy="371814"/>
            <a:chOff x="-37804925" y="3953450"/>
            <a:chExt cx="315075" cy="318225"/>
          </a:xfrm>
        </p:grpSpPr>
        <p:sp>
          <p:nvSpPr>
            <p:cNvPr id="519" name="Google Shape;519;p4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20" name="Google Shape;520;p4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521" name="Google Shape;521;p4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sp>
        <p:nvSpPr>
          <p:cNvPr id="522" name="Google Shape;522;p48"/>
          <p:cNvSpPr txBox="1"/>
          <p:nvPr/>
        </p:nvSpPr>
        <p:spPr>
          <a:xfrm>
            <a:off x="716950" y="4750000"/>
            <a:ext cx="72741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Simple -&gt; Complex -&gt; Data Driven -&gt; PINN(Natural Learning)</a:t>
            </a:r>
            <a:endParaRPr b="1"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23" name="Google Shape;523;p48"/>
          <p:cNvSpPr txBox="1"/>
          <p:nvPr/>
        </p:nvSpPr>
        <p:spPr>
          <a:xfrm>
            <a:off x="3141625" y="105700"/>
            <a:ext cx="25740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i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04.1</a:t>
            </a:r>
            <a:endParaRPr/>
          </a:p>
        </p:txBody>
      </p:sp>
      <p:sp>
        <p:nvSpPr>
          <p:cNvPr id="529" name="Google Shape;529;p49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Phase-1</a:t>
            </a:r>
            <a:endParaRPr/>
          </a:p>
        </p:txBody>
      </p:sp>
      <p:sp>
        <p:nvSpPr>
          <p:cNvPr id="530" name="Google Shape;530;p49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Geometric Brownian Motion ! </a:t>
            </a:r>
            <a:endParaRPr/>
          </a:p>
        </p:txBody>
      </p:sp>
      <p:sp>
        <p:nvSpPr>
          <p:cNvPr id="531" name="Google Shape;531;p49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32" name="Google Shape;532;p49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33" name="Google Shape;533;p49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34" name="Google Shape;534;p49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50" title="phas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550" y="1685625"/>
            <a:ext cx="8839199" cy="30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0"/>
          <p:cNvSpPr txBox="1"/>
          <p:nvPr/>
        </p:nvSpPr>
        <p:spPr>
          <a:xfrm>
            <a:off x="743700" y="604900"/>
            <a:ext cx="7407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Full Phase-1 (GBM) Outline</a:t>
            </a:r>
            <a:endParaRPr b="1" sz="4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1"/>
          <p:cNvSpPr txBox="1"/>
          <p:nvPr>
            <p:ph idx="1" type="body"/>
          </p:nvPr>
        </p:nvSpPr>
        <p:spPr>
          <a:xfrm>
            <a:off x="682525" y="1232925"/>
            <a:ext cx="37635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Model Intro !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A classical stochastic model for asset prices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Eqn: 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dSₜ = μSₜdt + σSₜdWₜ</a:t>
            </a:r>
            <a:endParaRPr b="1"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latin typeface="Old Standard TT"/>
                <a:ea typeface="Old Standard TT"/>
                <a:cs typeface="Old Standard TT"/>
                <a:sym typeface="Old Standard TT"/>
              </a:rPr>
              <a:t>Assumes:</a:t>
            </a:r>
            <a:endParaRPr b="1"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Constant Drift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(μ)</a:t>
            </a:r>
            <a:endParaRPr b="1"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Constant Volatility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(σ)</a:t>
            </a:r>
            <a:endParaRPr b="1"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Log-returns are normally distributed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Independent Increments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46" name="Google Shape;546;p51"/>
          <p:cNvSpPr txBox="1"/>
          <p:nvPr>
            <p:ph type="title"/>
          </p:nvPr>
        </p:nvSpPr>
        <p:spPr>
          <a:xfrm>
            <a:off x="504650" y="4354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Geometric Brownian Motion</a:t>
            </a:r>
            <a:endParaRPr/>
          </a:p>
        </p:txBody>
      </p:sp>
      <p:sp>
        <p:nvSpPr>
          <p:cNvPr id="547" name="Google Shape;547;p51"/>
          <p:cNvSpPr txBox="1"/>
          <p:nvPr>
            <p:ph idx="1" type="body"/>
          </p:nvPr>
        </p:nvSpPr>
        <p:spPr>
          <a:xfrm>
            <a:off x="4768725" y="1232925"/>
            <a:ext cx="37635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2300">
                <a:latin typeface="Old Standard TT"/>
                <a:ea typeface="Old Standard TT"/>
                <a:cs typeface="Old Standard TT"/>
                <a:sym typeface="Old Standard TT"/>
              </a:rPr>
              <a:t>What we Did?</a:t>
            </a:r>
            <a:endParaRPr b="1" sz="2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Calibrated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(μ)</a:t>
            </a: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 and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(σ)</a:t>
            </a: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 using MLE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Added </a:t>
            </a: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Itô</a:t>
            </a: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 convexity correction for unbiased drift estimation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Prepared </a:t>
            </a: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GBM-based price paths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Performed Statistical testing framework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Set this as the base for comparison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Conducted rolling-window out-of-sample forecasts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2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05.1</a:t>
            </a:r>
            <a:endParaRPr/>
          </a:p>
        </p:txBody>
      </p:sp>
      <p:sp>
        <p:nvSpPr>
          <p:cNvPr id="553" name="Google Shape;553;p52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Results Phase-1</a:t>
            </a:r>
            <a:endParaRPr/>
          </a:p>
        </p:txBody>
      </p:sp>
      <p:sp>
        <p:nvSpPr>
          <p:cNvPr id="554" name="Google Shape;554;p52"/>
          <p:cNvSpPr txBox="1"/>
          <p:nvPr>
            <p:ph idx="1" type="subTitle"/>
          </p:nvPr>
        </p:nvSpPr>
        <p:spPr>
          <a:xfrm>
            <a:off x="3257600" y="3238250"/>
            <a:ext cx="3594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             Rejection !!</a:t>
            </a:r>
            <a:endParaRPr/>
          </a:p>
        </p:txBody>
      </p:sp>
      <p:sp>
        <p:nvSpPr>
          <p:cNvPr id="555" name="Google Shape;555;p52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56" name="Google Shape;556;p52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57" name="Google Shape;557;p52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58" name="Google Shape;558;p52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3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4" name="Google Shape;564;p53"/>
          <p:cNvSpPr txBox="1"/>
          <p:nvPr/>
        </p:nvSpPr>
        <p:spPr>
          <a:xfrm>
            <a:off x="0" y="-7950"/>
            <a:ext cx="74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5" name="Google Shape;565;p53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Various Error terms in GBM</a:t>
            </a:r>
            <a:endParaRPr b="0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6" name="Google Shape;566;p53"/>
          <p:cNvSpPr txBox="1"/>
          <p:nvPr/>
        </p:nvSpPr>
        <p:spPr>
          <a:xfrm>
            <a:off x="8482050" y="4618675"/>
            <a:ext cx="662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567" name="Google Shape;567;p53" title="forecast_perform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461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4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73" name="Google Shape;573;p54"/>
          <p:cNvSpPr txBox="1"/>
          <p:nvPr/>
        </p:nvSpPr>
        <p:spPr>
          <a:xfrm>
            <a:off x="0" y="-7950"/>
            <a:ext cx="7347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74" name="Google Shape;574;p54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HDFC Forecast by GBM</a:t>
            </a:r>
            <a:endParaRPr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75" name="Google Shape;575;p54"/>
          <p:cNvSpPr txBox="1"/>
          <p:nvPr/>
        </p:nvSpPr>
        <p:spPr>
          <a:xfrm>
            <a:off x="8521600" y="4618675"/>
            <a:ext cx="622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576" name="Google Shape;576;p54" title="simulation_vs_actual_HDFCBa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950"/>
            <a:ext cx="9144003" cy="462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5"/>
          <p:cNvSpPr txBox="1"/>
          <p:nvPr>
            <p:ph idx="6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Results</a:t>
            </a:r>
            <a:r>
              <a:rPr b="0" lang="en" sz="1200"/>
              <a:t>*</a:t>
            </a:r>
            <a:endParaRPr b="0" sz="1200"/>
          </a:p>
        </p:txBody>
      </p:sp>
      <p:sp>
        <p:nvSpPr>
          <p:cNvPr id="582" name="Google Shape;582;p55"/>
          <p:cNvSpPr txBox="1"/>
          <p:nvPr/>
        </p:nvSpPr>
        <p:spPr>
          <a:xfrm rot="-5400000">
            <a:off x="-450775" y="4054700"/>
            <a:ext cx="163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*Other Results on the Git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83" name="Google Shape;583;p55"/>
          <p:cNvSpPr txBox="1"/>
          <p:nvPr/>
        </p:nvSpPr>
        <p:spPr>
          <a:xfrm>
            <a:off x="859575" y="1095175"/>
            <a:ext cx="75237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Normality Rejection: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All assets failed statistical tests (p &lt; 0.0001)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KS, Jarque–Bera, and Shapiro–Wilk tests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Nifty-50 p-value: 3.28 X 10</a:t>
            </a:r>
            <a:r>
              <a:rPr baseline="30000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-41</a:t>
            </a:r>
            <a:endParaRPr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Non-Gaussian Chars: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Fat Tails: Excess Kurtosis ranged from 3.33 to 20.31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Asymmetric Risk: 11 of 14 stocks showed negative skewness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Poor Predictive Performance: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High Forecast Errors: MAPE from 4.17% to 34.59%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Volatility Correlation: Fails to capture real market dynamics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GBM, a clean theoretical baseline, but is empirically invalid for Indian equities – mandates advanced models</a:t>
            </a:r>
            <a:endParaRPr b="1" i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6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04.2</a:t>
            </a:r>
            <a:endParaRPr/>
          </a:p>
        </p:txBody>
      </p:sp>
      <p:sp>
        <p:nvSpPr>
          <p:cNvPr id="589" name="Google Shape;589;p56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Phase-2</a:t>
            </a:r>
            <a:endParaRPr/>
          </a:p>
        </p:txBody>
      </p:sp>
      <p:sp>
        <p:nvSpPr>
          <p:cNvPr id="590" name="Google Shape;590;p56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Stochasticity</a:t>
            </a:r>
            <a:endParaRPr/>
          </a:p>
        </p:txBody>
      </p:sp>
      <p:sp>
        <p:nvSpPr>
          <p:cNvPr id="591" name="Google Shape;591;p56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92" name="Google Shape;592;p56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93" name="Google Shape;593;p56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94" name="Google Shape;594;p56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/>
          <p:nvPr/>
        </p:nvSpPr>
        <p:spPr>
          <a:xfrm>
            <a:off x="752625" y="676200"/>
            <a:ext cx="7407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Phase-2 (Heston Stochastic) Outline</a:t>
            </a:r>
            <a:endParaRPr b="1" sz="4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00" name="Google Shape;600;p57" title="phas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925" y="2094375"/>
            <a:ext cx="9255926" cy="257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8"/>
          <p:cNvSpPr txBox="1"/>
          <p:nvPr>
            <p:ph idx="1" type="body"/>
          </p:nvPr>
        </p:nvSpPr>
        <p:spPr>
          <a:xfrm>
            <a:off x="422775" y="1090300"/>
            <a:ext cx="39966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Model Intro !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Extends GBM by making volatility stochastic, Other SDE for stochastic variance (vₜ) (CIR)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Coupled</a:t>
            </a: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 System: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dSₜ = μSₜdt + √vₜ Sₜ dWₛ</a:t>
            </a:r>
            <a:endParaRPr b="1"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dvₜ = κ(θ − vₜ)dt + ξ√vₜ dWᵥ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Old Standard TT"/>
                <a:ea typeface="Old Standard TT"/>
                <a:cs typeface="Old Standard TT"/>
                <a:sym typeface="Old Standard TT"/>
              </a:rPr>
              <a:t>Captures:</a:t>
            </a:r>
            <a:endParaRPr b="1"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Volatility clustering and mean-reversion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Leverage effect (correlation between price &amp; volatility shocks)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06" name="Google Shape;606;p58"/>
          <p:cNvSpPr txBox="1"/>
          <p:nvPr>
            <p:ph type="title"/>
          </p:nvPr>
        </p:nvSpPr>
        <p:spPr>
          <a:xfrm>
            <a:off x="504650" y="3641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Heston Stochastic Volatility Model</a:t>
            </a:r>
            <a:endParaRPr/>
          </a:p>
        </p:txBody>
      </p:sp>
      <p:sp>
        <p:nvSpPr>
          <p:cNvPr id="607" name="Google Shape;607;p58"/>
          <p:cNvSpPr txBox="1"/>
          <p:nvPr>
            <p:ph idx="1" type="body"/>
          </p:nvPr>
        </p:nvSpPr>
        <p:spPr>
          <a:xfrm>
            <a:off x="4741975" y="1090300"/>
            <a:ext cx="37635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n" sz="2300">
                <a:latin typeface="Old Standard TT"/>
                <a:ea typeface="Old Standard TT"/>
                <a:cs typeface="Old Standard TT"/>
                <a:sym typeface="Old Standard TT"/>
              </a:rPr>
              <a:t>What we Did?</a:t>
            </a:r>
            <a:endParaRPr b="1" sz="2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Set up the 2D Fokker–Planck PDE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Implemented a numerically stable ADI solver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Constructed price and variance grids for simulation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Used historical data to configure μ, θ, v₀ and so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❏"/>
            </a:pPr>
            <a:r>
              <a:rPr lang="en" sz="1500">
                <a:latin typeface="Old Standard TT"/>
                <a:ea typeface="Old Standard TT"/>
                <a:cs typeface="Old Standard TT"/>
                <a:sym typeface="Old Standard TT"/>
              </a:rPr>
              <a:t>Generated full future probability distributions, not just price paths</a:t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9"/>
          <p:cNvSpPr txBox="1"/>
          <p:nvPr>
            <p:ph idx="15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Expected Improvements</a:t>
            </a:r>
            <a:r>
              <a:rPr b="0" lang="en" sz="1100"/>
              <a:t>*</a:t>
            </a:r>
            <a:endParaRPr b="0" sz="1100"/>
          </a:p>
        </p:txBody>
      </p:sp>
      <p:sp>
        <p:nvSpPr>
          <p:cNvPr id="613" name="Google Shape;613;p59"/>
          <p:cNvSpPr txBox="1"/>
          <p:nvPr>
            <p:ph idx="1" type="subTitle"/>
          </p:nvPr>
        </p:nvSpPr>
        <p:spPr>
          <a:xfrm>
            <a:off x="1789731" y="1438175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Capture volatility smiles and leverage effects</a:t>
            </a:r>
            <a:endParaRPr/>
          </a:p>
        </p:txBody>
      </p:sp>
      <p:sp>
        <p:nvSpPr>
          <p:cNvPr id="614" name="Google Shape;614;p59"/>
          <p:cNvSpPr txBox="1"/>
          <p:nvPr>
            <p:ph idx="3" type="subTitle"/>
          </p:nvPr>
        </p:nvSpPr>
        <p:spPr>
          <a:xfrm>
            <a:off x="1843206" y="2605875"/>
            <a:ext cx="21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Handles clustering and regime shifts in volatility</a:t>
            </a:r>
            <a:endParaRPr/>
          </a:p>
        </p:txBody>
      </p:sp>
      <p:sp>
        <p:nvSpPr>
          <p:cNvPr id="615" name="Google Shape;615;p59"/>
          <p:cNvSpPr txBox="1"/>
          <p:nvPr>
            <p:ph idx="5" type="subTitle"/>
          </p:nvPr>
        </p:nvSpPr>
        <p:spPr>
          <a:xfrm>
            <a:off x="1843199" y="3794625"/>
            <a:ext cx="26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More realistic representation of short-term and medium -term risk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59"/>
          <p:cNvSpPr txBox="1"/>
          <p:nvPr>
            <p:ph idx="7" type="subTitle"/>
          </p:nvPr>
        </p:nvSpPr>
        <p:spPr>
          <a:xfrm>
            <a:off x="6123100" y="1381247"/>
            <a:ext cx="21207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tail-risk quantification (VaR, Expected Shortfall)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59"/>
          <p:cNvSpPr txBox="1"/>
          <p:nvPr>
            <p:ph idx="9" type="subTitle"/>
          </p:nvPr>
        </p:nvSpPr>
        <p:spPr>
          <a:xfrm>
            <a:off x="6123100" y="2960850"/>
            <a:ext cx="23760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Move from point-based modeling (GBM) to distribution-level modeling</a:t>
            </a:r>
            <a:endParaRPr/>
          </a:p>
        </p:txBody>
      </p:sp>
      <p:sp>
        <p:nvSpPr>
          <p:cNvPr id="618" name="Google Shape;618;p59"/>
          <p:cNvSpPr/>
          <p:nvPr/>
        </p:nvSpPr>
        <p:spPr>
          <a:xfrm>
            <a:off x="855619" y="1417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9"/>
          <p:cNvSpPr/>
          <p:nvPr/>
        </p:nvSpPr>
        <p:spPr>
          <a:xfrm>
            <a:off x="855619" y="2581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9"/>
          <p:cNvSpPr/>
          <p:nvPr/>
        </p:nvSpPr>
        <p:spPr>
          <a:xfrm>
            <a:off x="855619" y="3745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9"/>
          <p:cNvSpPr/>
          <p:nvPr/>
        </p:nvSpPr>
        <p:spPr>
          <a:xfrm>
            <a:off x="5180094" y="1417133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9"/>
          <p:cNvSpPr/>
          <p:nvPr/>
        </p:nvSpPr>
        <p:spPr>
          <a:xfrm>
            <a:off x="5180094" y="3076758"/>
            <a:ext cx="622200" cy="62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9"/>
          <p:cNvSpPr/>
          <p:nvPr/>
        </p:nvSpPr>
        <p:spPr>
          <a:xfrm>
            <a:off x="5309410" y="1539064"/>
            <a:ext cx="363548" cy="370909"/>
          </a:xfrm>
          <a:custGeom>
            <a:rect b="b" l="l" r="r" t="t"/>
            <a:pathLst>
              <a:path extrusionOk="0" h="12698" w="12446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59"/>
          <p:cNvGrpSpPr/>
          <p:nvPr/>
        </p:nvGrpSpPr>
        <p:grpSpPr>
          <a:xfrm>
            <a:off x="987332" y="1546621"/>
            <a:ext cx="358640" cy="363226"/>
            <a:chOff x="-42617300" y="3587775"/>
            <a:chExt cx="306950" cy="310875"/>
          </a:xfrm>
        </p:grpSpPr>
        <p:sp>
          <p:nvSpPr>
            <p:cNvPr id="625" name="Google Shape;625;p59"/>
            <p:cNvSpPr/>
            <p:nvPr/>
          </p:nvSpPr>
          <p:spPr>
            <a:xfrm>
              <a:off x="-42617300" y="3587775"/>
              <a:ext cx="306950" cy="310875"/>
            </a:xfrm>
            <a:custGeom>
              <a:rect b="b" l="l" r="r" t="t"/>
              <a:pathLst>
                <a:path extrusionOk="0" h="12435" w="12278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9"/>
            <p:cNvSpPr/>
            <p:nvPr/>
          </p:nvSpPr>
          <p:spPr>
            <a:xfrm>
              <a:off x="-42500725" y="3712425"/>
              <a:ext cx="63025" cy="62275"/>
            </a:xfrm>
            <a:custGeom>
              <a:rect b="b" l="l" r="r" t="t"/>
              <a:pathLst>
                <a:path extrusionOk="0" h="2491" w="2521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7" name="Google Shape;627;p59"/>
          <p:cNvGrpSpPr/>
          <p:nvPr/>
        </p:nvGrpSpPr>
        <p:grpSpPr>
          <a:xfrm>
            <a:off x="1021332" y="3874596"/>
            <a:ext cx="290815" cy="369740"/>
            <a:chOff x="-37370925" y="3579105"/>
            <a:chExt cx="248900" cy="316450"/>
          </a:xfrm>
        </p:grpSpPr>
        <p:sp>
          <p:nvSpPr>
            <p:cNvPr id="628" name="Google Shape;628;p59"/>
            <p:cNvSpPr/>
            <p:nvPr/>
          </p:nvSpPr>
          <p:spPr>
            <a:xfrm>
              <a:off x="-37268550" y="3671055"/>
              <a:ext cx="83525" cy="82525"/>
            </a:xfrm>
            <a:custGeom>
              <a:rect b="b" l="l" r="r" t="t"/>
              <a:pathLst>
                <a:path extrusionOk="0" h="3301" w="3341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9"/>
            <p:cNvSpPr/>
            <p:nvPr/>
          </p:nvSpPr>
          <p:spPr>
            <a:xfrm>
              <a:off x="-37370925" y="3579105"/>
              <a:ext cx="248900" cy="316450"/>
            </a:xfrm>
            <a:custGeom>
              <a:rect b="b" l="l" r="r" t="t"/>
              <a:pathLst>
                <a:path extrusionOk="0" h="12658" w="9956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59"/>
          <p:cNvGrpSpPr/>
          <p:nvPr/>
        </p:nvGrpSpPr>
        <p:grpSpPr>
          <a:xfrm>
            <a:off x="5322482" y="3202387"/>
            <a:ext cx="337522" cy="370909"/>
            <a:chOff x="-39998250" y="3605325"/>
            <a:chExt cx="288875" cy="317450"/>
          </a:xfrm>
        </p:grpSpPr>
        <p:sp>
          <p:nvSpPr>
            <p:cNvPr id="631" name="Google Shape;631;p59"/>
            <p:cNvSpPr/>
            <p:nvPr/>
          </p:nvSpPr>
          <p:spPr>
            <a:xfrm>
              <a:off x="-39998250" y="3799600"/>
              <a:ext cx="288875" cy="123175"/>
            </a:xfrm>
            <a:custGeom>
              <a:rect b="b" l="l" r="r" t="t"/>
              <a:pathLst>
                <a:path extrusionOk="0" h="4927" w="11555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9"/>
            <p:cNvSpPr/>
            <p:nvPr/>
          </p:nvSpPr>
          <p:spPr>
            <a:xfrm>
              <a:off x="-39940950" y="3605325"/>
              <a:ext cx="160700" cy="212050"/>
            </a:xfrm>
            <a:custGeom>
              <a:rect b="b" l="l" r="r" t="t"/>
              <a:pathLst>
                <a:path extrusionOk="0" h="8482" w="6428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59"/>
          <p:cNvSpPr/>
          <p:nvPr/>
        </p:nvSpPr>
        <p:spPr>
          <a:xfrm>
            <a:off x="1033708" y="2707700"/>
            <a:ext cx="265986" cy="369039"/>
          </a:xfrm>
          <a:custGeom>
            <a:rect b="b" l="l" r="r" t="t"/>
            <a:pathLst>
              <a:path extrusionOk="0" h="12634" w="9106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9"/>
          <p:cNvSpPr txBox="1"/>
          <p:nvPr/>
        </p:nvSpPr>
        <p:spPr>
          <a:xfrm rot="-5400000">
            <a:off x="-35652" y="4529633"/>
            <a:ext cx="811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*Wrt Phase-1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0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05.2</a:t>
            </a:r>
            <a:endParaRPr/>
          </a:p>
        </p:txBody>
      </p:sp>
      <p:sp>
        <p:nvSpPr>
          <p:cNvPr id="640" name="Google Shape;640;p60"/>
          <p:cNvSpPr txBox="1"/>
          <p:nvPr>
            <p:ph type="title"/>
          </p:nvPr>
        </p:nvSpPr>
        <p:spPr>
          <a:xfrm>
            <a:off x="1760164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Results Phase-2</a:t>
            </a:r>
            <a:endParaRPr/>
          </a:p>
        </p:txBody>
      </p:sp>
      <p:sp>
        <p:nvSpPr>
          <p:cNvPr id="641" name="Google Shape;641;p60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Improvement against GBM but still we lag something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42" name="Google Shape;642;p60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43" name="Google Shape;643;p60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44" name="Google Shape;644;p60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45" name="Google Shape;645;p60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51" name="Google Shape;651;p61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52" name="Google Shape;652;p61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53" name="Google Shape;653;p61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HDFC Bank rolling window calibration</a:t>
            </a:r>
            <a:endParaRPr b="0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54" name="Google Shape;654;p61" title="HDFCBank_roll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461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2"/>
          <p:cNvSpPr txBox="1"/>
          <p:nvPr>
            <p:ph idx="6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Results</a:t>
            </a:r>
            <a:r>
              <a:rPr b="0" lang="en" sz="1400"/>
              <a:t>*</a:t>
            </a:r>
            <a:endParaRPr b="0" sz="1400"/>
          </a:p>
        </p:txBody>
      </p:sp>
      <p:sp>
        <p:nvSpPr>
          <p:cNvPr id="660" name="Google Shape;660;p62"/>
          <p:cNvSpPr txBox="1"/>
          <p:nvPr/>
        </p:nvSpPr>
        <p:spPr>
          <a:xfrm rot="-5400000">
            <a:off x="-450775" y="4054700"/>
            <a:ext cx="163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*Other Results on the Git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61" name="Google Shape;661;p62"/>
          <p:cNvSpPr txBox="1"/>
          <p:nvPr/>
        </p:nvSpPr>
        <p:spPr>
          <a:xfrm>
            <a:off x="859575" y="1095175"/>
            <a:ext cx="75237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Positive Results: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Machine-Precision Conservation: Probability error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 </a:t>
            </a: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1e-11%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Better Risk Metrics: Realistic VaR &amp; Expected Shortfall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Captured Leverage Effect: Negative correlation (ρ = -0.7) between price &amp; volatility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Sector-Specific Patterns: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Metals: Right-skewed distributions (upside potential)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Banks: Left-skewed (crash risk)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Performance vs GBM: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Distributional forecasting vs point estimates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Time-varying volatility vs constant volatility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Realistic tail risk vs underestimated risk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Overcomes the major flaw by allowing volatility to move, producing distributions that better match empirical behavior but still not too better</a:t>
            </a:r>
            <a:endParaRPr b="1" i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3"/>
          <p:cNvSpPr txBox="1"/>
          <p:nvPr>
            <p:ph idx="6"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What’s still missing?</a:t>
            </a:r>
            <a:endParaRPr b="0" sz="1400"/>
          </a:p>
        </p:txBody>
      </p:sp>
      <p:sp>
        <p:nvSpPr>
          <p:cNvPr id="667" name="Google Shape;667;p63"/>
          <p:cNvSpPr txBox="1"/>
          <p:nvPr/>
        </p:nvSpPr>
        <p:spPr>
          <a:xfrm rot="-5400000">
            <a:off x="-450775" y="4054700"/>
            <a:ext cx="163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*Other Results on the Git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68" name="Google Shape;668;p63"/>
          <p:cNvSpPr txBox="1"/>
          <p:nvPr/>
        </p:nvSpPr>
        <p:spPr>
          <a:xfrm>
            <a:off x="859575" y="1095175"/>
            <a:ext cx="75237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Persistent Parametric Constraints: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Drift &amp; diffusion follow rigid Heston forms; real markets are more complex.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Heuristic Calibration: Parameters (κ, ξ, ρ) not fully optimized from data.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Structural &amp; Numerical Shortcomings: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 Regime-Awareness: Cannot adapt to different volatility regimes or structural breaks.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Incomplete Tail Behavior: EVT shows empirical tails are more extreme.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Theoretical Instability: Feller condition violated for 3 assets (e.g., Nifty-50).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High-Dimensional Bias: PDE solution depends on fixed grids, hiding finer structures.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Core Limitation:</a:t>
            </a:r>
            <a:endParaRPr b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Cannot discover market dynamics directly from data and Equations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Data-driven discovery without pre-specified models?</a:t>
            </a:r>
            <a:endParaRPr b="1" i="1"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4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04.3</a:t>
            </a:r>
            <a:endParaRPr/>
          </a:p>
        </p:txBody>
      </p:sp>
      <p:sp>
        <p:nvSpPr>
          <p:cNvPr id="674" name="Google Shape;674;p64"/>
          <p:cNvSpPr txBox="1"/>
          <p:nvPr>
            <p:ph type="title"/>
          </p:nvPr>
        </p:nvSpPr>
        <p:spPr>
          <a:xfrm>
            <a:off x="1760164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Phase-3</a:t>
            </a:r>
            <a:endParaRPr/>
          </a:p>
        </p:txBody>
      </p:sp>
      <p:sp>
        <p:nvSpPr>
          <p:cNvPr id="675" name="Google Shape;675;p64"/>
          <p:cNvSpPr txBox="1"/>
          <p:nvPr>
            <p:ph idx="1" type="subTitle"/>
          </p:nvPr>
        </p:nvSpPr>
        <p:spPr>
          <a:xfrm>
            <a:off x="3097150" y="3238225"/>
            <a:ext cx="3538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Non-parametric Data Driven Approach</a:t>
            </a:r>
            <a:endParaRPr/>
          </a:p>
        </p:txBody>
      </p:sp>
      <p:sp>
        <p:nvSpPr>
          <p:cNvPr id="676" name="Google Shape;676;p64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77" name="Google Shape;677;p64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78" name="Google Shape;678;p64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79" name="Google Shape;679;p64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5"/>
          <p:cNvSpPr txBox="1"/>
          <p:nvPr/>
        </p:nvSpPr>
        <p:spPr>
          <a:xfrm>
            <a:off x="743700" y="604900"/>
            <a:ext cx="7407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Phase-3 (</a:t>
            </a: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Empirical</a:t>
            </a: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Density Estimation) Outline</a:t>
            </a:r>
            <a:endParaRPr b="1" sz="4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85" name="Google Shape;685;p65" title="phas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3325" y="2138925"/>
            <a:ext cx="9229174" cy="2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6"/>
          <p:cNvSpPr txBox="1"/>
          <p:nvPr>
            <p:ph idx="1" type="body"/>
          </p:nvPr>
        </p:nvSpPr>
        <p:spPr>
          <a:xfrm>
            <a:off x="146450" y="1090300"/>
            <a:ext cx="81474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Old Standard TT"/>
                <a:ea typeface="Old Standard TT"/>
                <a:cs typeface="Old Standard TT"/>
                <a:sym typeface="Old Standard TT"/>
              </a:rPr>
              <a:t>What we mean?</a:t>
            </a:r>
            <a:endParaRPr b="1"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Data-driven, non-parametric approach, of how markets behave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SDE or Model structure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Extracting the probability distribution, regime changes, and tail behavior directly from return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Old Standard TT"/>
                <a:ea typeface="Old Standard TT"/>
                <a:cs typeface="Old Standard TT"/>
                <a:sym typeface="Old Standard TT"/>
              </a:rPr>
              <a:t>Why we are doing?</a:t>
            </a:r>
            <a:endParaRPr b="1"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Robust, model-free benchmark for market behavior, against which all parametric and AI models can be validated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91" name="Google Shape;691;p66"/>
          <p:cNvSpPr txBox="1"/>
          <p:nvPr>
            <p:ph type="title"/>
          </p:nvPr>
        </p:nvSpPr>
        <p:spPr>
          <a:xfrm>
            <a:off x="0" y="36412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Empirical Density &amp; Regime Modeling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7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Adaptive Kernel Density Estimation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Normalize returns using rolling realized volatility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Estimate smooth, data-driven densities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Capture distribution shapes independent of model assumptions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Regime Detection (PELT Algorithm)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Identify structural breaks in volatility and return dynamics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Discover market regimes (calm, turbulent, crisis, recovery)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Understand how distributions change across time segments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97" name="Google Shape;697;p67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How we are Doing?</a:t>
            </a:r>
            <a:endParaRPr/>
          </a:p>
        </p:txBody>
      </p:sp>
      <p:sp>
        <p:nvSpPr>
          <p:cNvPr id="698" name="Google Shape;698;p67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Extreme Value Theory for Tails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Fit Generalized Pareto Distributions to crash/rally extremes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Quantify true tail heaviness beyond Gaussian/Heston assumptions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Build model-free tail risk estimates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Establish “Ground Truth” Distributions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Combine KDE + Regimes + EVT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Produce high-fidelity empirical densities to benchmark Phase-2 and Phase-4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Provide reference distributions for validating PINN outputs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8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05.3</a:t>
            </a:r>
            <a:endParaRPr/>
          </a:p>
        </p:txBody>
      </p:sp>
      <p:sp>
        <p:nvSpPr>
          <p:cNvPr id="704" name="Google Shape;704;p68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Results Phase-3</a:t>
            </a:r>
            <a:endParaRPr/>
          </a:p>
        </p:txBody>
      </p:sp>
      <p:sp>
        <p:nvSpPr>
          <p:cNvPr id="705" name="Google Shape;705;p68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 </a:t>
            </a:r>
            <a:r>
              <a:rPr lang="en"/>
              <a:t>validity</a:t>
            </a:r>
            <a:r>
              <a:rPr lang="en"/>
              <a:t> for Validations </a:t>
            </a:r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9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Market Regime Analysis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~60 distinct regimes detected per asset (avg. 44 days/regime)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Identified: Calm periods, High-volatility bursts, Crash phases (COVID-19), Recovery cycles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Validated Risk Management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EVT-based VaR passes Kupiec backtesting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Superior to standard models that consistently underestimate tail risk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15" name="Google Shape;715;p69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 we Got till here?</a:t>
            </a:r>
            <a:endParaRPr/>
          </a:p>
        </p:txBody>
      </p:sp>
      <p:sp>
        <p:nvSpPr>
          <p:cNvPr id="716" name="Google Shape;716;p69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Systemic Risk Patterns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Correlation Clustering Spikes to 0.685 during crises (COVID-19)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Diversification Breakdown Lower tail dependence &gt; Upper tail dependence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Distribution Characteristics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High-resolution empirical densities via volatility-normalized KDE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Universal Fat Tails All assets show positive tail shape parameters (ξ &gt; 0)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Crash Dominance 11 of 14 stocks have heavier left tails (ξ_left vs ξ_right)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0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2" name="Google Shape;722;p70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3" name="Google Shape;723;p70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4" name="Google Shape;724;p70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7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Correlation between all assets</a:t>
            </a:r>
            <a:endParaRPr b="1" sz="17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25" name="Google Shape;725;p70" title="correlation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900" y="152400"/>
            <a:ext cx="5530102" cy="4466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1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1" name="Google Shape;731;p71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2" name="Google Shape;732;p71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3" name="Google Shape;733;p71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7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Nifty-50 Regimes(61 for 43.7 days)</a:t>
            </a:r>
            <a:endParaRPr b="1" sz="17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34" name="Google Shape;734;p71" title="Nifty-50_regim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461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2"/>
          <p:cNvSpPr txBox="1"/>
          <p:nvPr>
            <p:ph idx="1" type="body"/>
          </p:nvPr>
        </p:nvSpPr>
        <p:spPr>
          <a:xfrm>
            <a:off x="208850" y="827750"/>
            <a:ext cx="78534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Purely Descriptive, Not Predictive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Excellent at describing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what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happened, but cannot forecast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how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distributions evolve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No Underlying Dynamics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Identifies regimes but provides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no drift µ(x,t)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or </a:t>
            </a: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diffusion σ(x,t)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function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Lacks the generative mechanism to produce observed dy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namics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Limited Financial Applications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Cannot price derivatives (no continuous-time stochastic process)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unified mapping between detected regimes and mathematical model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The "Why" Remains Unknown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We see the stylized facts, but not the fundamental mathematical laws causing them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40" name="Google Shape;740;p72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Where are we still Lagging?</a:t>
            </a:r>
            <a:endParaRPr/>
          </a:p>
        </p:txBody>
      </p:sp>
      <p:sp>
        <p:nvSpPr>
          <p:cNvPr id="741" name="Google Shape;741;p72"/>
          <p:cNvSpPr txBox="1"/>
          <p:nvPr/>
        </p:nvSpPr>
        <p:spPr>
          <a:xfrm>
            <a:off x="699150" y="4687600"/>
            <a:ext cx="724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Discovering the governing equations directly from data using PINNs?</a:t>
            </a:r>
            <a:endParaRPr b="1" i="1"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3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04.4</a:t>
            </a:r>
            <a:endParaRPr/>
          </a:p>
        </p:txBody>
      </p:sp>
      <p:sp>
        <p:nvSpPr>
          <p:cNvPr id="747" name="Google Shape;747;p73"/>
          <p:cNvSpPr txBox="1"/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Phase-4</a:t>
            </a:r>
            <a:endParaRPr/>
          </a:p>
        </p:txBody>
      </p:sp>
      <p:sp>
        <p:nvSpPr>
          <p:cNvPr id="748" name="Google Shape;748;p73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PINN !</a:t>
            </a:r>
            <a:endParaRPr/>
          </a:p>
        </p:txBody>
      </p:sp>
      <p:sp>
        <p:nvSpPr>
          <p:cNvPr id="749" name="Google Shape;749;p73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0" name="Google Shape;750;p73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1" name="Google Shape;751;p73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2" name="Google Shape;752;p73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4"/>
          <p:cNvSpPr txBox="1"/>
          <p:nvPr/>
        </p:nvSpPr>
        <p:spPr>
          <a:xfrm>
            <a:off x="930900" y="613825"/>
            <a:ext cx="7407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Phase-4 (PINN) Outline</a:t>
            </a:r>
            <a:endParaRPr b="1" sz="4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58" name="Google Shape;758;p74" title="phas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9600" y="1719125"/>
            <a:ext cx="8839199" cy="31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5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1.Define PDE (FP)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∂p/∂t​​ </a:t>
            </a:r>
            <a:r>
              <a:rPr lang="en"/>
              <a:t>+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∂​[a(x,t)p]/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∂​x -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∂</a:t>
            </a:r>
            <a:r>
              <a:rPr baseline="30000" lang="en"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​[b(x,t)p]/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∂x</a:t>
            </a:r>
            <a:r>
              <a:rPr baseline="30000" lang="en"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lang="en"/>
              <a:t>=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2.Formulate the inverse problem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Inputs: empirical densities from Phase-3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Goal: discover drift (a(x,t)) and diffusion (b(x,t)) directly from data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Constraints: initial density, absorbing boundaries, normalization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4" name="Google Shape;764;p75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What we are Doing?</a:t>
            </a:r>
            <a:endParaRPr/>
          </a:p>
        </p:txBody>
      </p:sp>
      <p:sp>
        <p:nvSpPr>
          <p:cNvPr id="765" name="Google Shape;765;p75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3.Train a PINN with physics + data losses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PDE residual (physics)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CDF matching (data assimilation)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Boundary/initial conditions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Mean-reversion &amp; volatility-smile constraints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Regularization + smoothness penalties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4.Output of the phase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validated non-parametric model of drift and diffusion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 generative density model consistent with both data and PDE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6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1. Solution Network - (p(x,t))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Input: ([x, t])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Hidden layers: 4 × 256-unit layers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Output: predicted density (p), [10</a:t>
            </a:r>
            <a:r>
              <a:rPr baseline="30000" lang="en">
                <a:latin typeface="Old Standard TT"/>
                <a:ea typeface="Old Standard TT"/>
                <a:cs typeface="Old Standard TT"/>
                <a:sym typeface="Old Standard TT"/>
              </a:rPr>
              <a:t>-8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, 20]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Purpose: approximate the evolving probability density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2. Drift Network - (a(x,t,z))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Input: ([x, t, z</a:t>
            </a:r>
            <a:r>
              <a:rPr baseline="-25000" lang="en">
                <a:latin typeface="Old Standard TT"/>
                <a:ea typeface="Old Standard TT"/>
                <a:cs typeface="Old Standard TT"/>
                <a:sym typeface="Old Standard TT"/>
              </a:rPr>
              <a:t>1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…z</a:t>
            </a:r>
            <a:r>
              <a:rPr baseline="-25000" lang="en"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])(multi-scale vol features: 20, 60, 90, 150, 240-day volatilities)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Hidden layers: 3 × 128-unit layers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Output: drift value, clamped to ([-20, 20])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Purpose: learn mean-reversion and nonlinear drift effects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71" name="Google Shape;771;p76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PINN Architecture</a:t>
            </a:r>
            <a:endParaRPr/>
          </a:p>
        </p:txBody>
      </p:sp>
      <p:sp>
        <p:nvSpPr>
          <p:cNvPr id="772" name="Google Shape;772;p76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3. Diffusion Network - (b(x,t,z))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Input: ([x, t, z</a:t>
            </a:r>
            <a:r>
              <a:rPr baseline="-25000" lang="en">
                <a:latin typeface="Old Standard TT"/>
                <a:ea typeface="Old Standard TT"/>
                <a:cs typeface="Old Standard TT"/>
                <a:sym typeface="Old Standard TT"/>
              </a:rPr>
              <a:t>1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…z</a:t>
            </a:r>
            <a:r>
              <a:rPr baseline="-25000" lang="en"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])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Hidden layers: 3 × 128-unit layers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Output: diffusion/volatility, ([10</a:t>
            </a:r>
            <a:r>
              <a:rPr baseline="30000" lang="en">
                <a:latin typeface="Old Standard TT"/>
                <a:ea typeface="Old Standard TT"/>
                <a:cs typeface="Old Standard TT"/>
                <a:sym typeface="Old Standard TT"/>
              </a:rPr>
              <a:t>-5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, 2])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Purpose: learn volatility smiles, clustering, and leverage effects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Overall Architecture Summary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Total parameters: ~500k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Three coordinated networks: (p), (a), (b)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Auto Grad computes PDE residuals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Combined physics + data + financial priors ensure meaningful learning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Fourier feature encoding and Swish activation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7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05.4</a:t>
            </a:r>
            <a:endParaRPr/>
          </a:p>
        </p:txBody>
      </p:sp>
      <p:sp>
        <p:nvSpPr>
          <p:cNvPr id="778" name="Google Shape;778;p77"/>
          <p:cNvSpPr txBox="1"/>
          <p:nvPr>
            <p:ph type="title"/>
          </p:nvPr>
        </p:nvSpPr>
        <p:spPr>
          <a:xfrm>
            <a:off x="1733422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Results Phase-4</a:t>
            </a:r>
            <a:endParaRPr/>
          </a:p>
        </p:txBody>
      </p:sp>
      <p:sp>
        <p:nvSpPr>
          <p:cNvPr id="779" name="Google Shape;779;p77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Are we Good now?</a:t>
            </a:r>
            <a:endParaRPr/>
          </a:p>
        </p:txBody>
      </p:sp>
      <p:sp>
        <p:nvSpPr>
          <p:cNvPr id="780" name="Google Shape;780;p77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1" name="Google Shape;781;p77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2" name="Google Shape;782;p77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3" name="Google Shape;783;p77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8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Functional Discovery: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Learned drift a(x,t) and diffusion b(x,t) functions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Physics Consistency: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PDE residuals minimized, probability conserved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Financial Patterns Found: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AutoNum type="alphaUcPeriod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Mean reversion structure: `a(x) ≈ -λ·x` (λ = 0.4-1.8)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AutoNum type="alphaUcPeriod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Volatility smiles: U-shaped patterns across returns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AutoNum type="alphaUcPeriod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Sector insights: Banking (λ ≈ 0.15-0.25) vs Tech (weaker mean reversion)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Numerical Stability: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No explosions despite complex training (PDF clamping effective)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Practical Risk Metrics: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VaR/ES reasonably accurate for risk applications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9" name="Google Shape;789;p78"/>
          <p:cNvSpPr txBox="1"/>
          <p:nvPr>
            <p:ph type="title"/>
          </p:nvPr>
        </p:nvSpPr>
        <p:spPr>
          <a:xfrm>
            <a:off x="0" y="132375"/>
            <a:ext cx="3631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200"/>
              <a:t>Key Success</a:t>
            </a:r>
            <a:endParaRPr sz="3200"/>
          </a:p>
        </p:txBody>
      </p:sp>
      <p:sp>
        <p:nvSpPr>
          <p:cNvPr id="790" name="Google Shape;790;p78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Poor Density Match: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Correlation 0.37-0.67 (Target: </a:t>
            </a:r>
            <a:r>
              <a:rPr lang="en"/>
              <a:t>&gt;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0.95)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Statistical Test Failures: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KS/AD tests reject distribution equality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Inconsistent Functions: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Mean reversion strength varies; volatility structure sometimes inverted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Physics-Data Trade-off: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Strong PDE enforcement hurts data fit, and vice versa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Limited Generalization: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Some assets show anti-correlated densities (-0.35)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1" name="Google Shape;791;p78"/>
          <p:cNvSpPr txBox="1"/>
          <p:nvPr>
            <p:ph type="title"/>
          </p:nvPr>
        </p:nvSpPr>
        <p:spPr>
          <a:xfrm>
            <a:off x="4261850" y="132375"/>
            <a:ext cx="3631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200"/>
              <a:t>Fall Short</a:t>
            </a:r>
            <a:endParaRPr sz="3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9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7" name="Google Shape;797;p79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8" name="Google Shape;798;p79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9" name="Google Shape;799;p79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7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PINN Training Losses</a:t>
            </a:r>
            <a:endParaRPr b="1" sz="17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00" name="Google Shape;80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7950"/>
            <a:ext cx="9144003" cy="462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0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06" name="Google Shape;806;p80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07" name="Google Shape;807;p80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08" name="Google Shape;808;p80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7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Improved </a:t>
            </a:r>
            <a:r>
              <a:rPr b="1" lang="en" sz="17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PINN Training Losses</a:t>
            </a:r>
            <a:endParaRPr b="1" sz="17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09" name="Google Shape;80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46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1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1.Computational Bottlenecks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3-4 hours/stock on GPU - limits experimentation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Constant monitoring required to prevent silent failures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recovery from mid-training errors → hours wasted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2.Architectural Gaps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MLPs instead of LSTMs/Transformers - misses temporal patterns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attention mechanisms - cannot focus on crisis periods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Rigid constraints - mean reversion enforcement limits flexibility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15" name="Google Shape;815;p81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Why we still Lag?</a:t>
            </a:r>
            <a:endParaRPr/>
          </a:p>
        </p:txBody>
      </p:sp>
      <p:sp>
        <p:nvSpPr>
          <p:cNvPr id="816" name="Google Shape;816;p81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3.Optimization Challenges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10+ loss terms - extremely difficult to balance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PDF clamping - prevents explosions but caps tail accuracy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Physics-Data trade-off - can't optimize both perfectly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4.Missed Opportunities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LLM integration for market context &amp; regime priors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transfer learning between similar assets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No meta-learning for faster convergence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2"/>
          <p:cNvSpPr txBox="1"/>
          <p:nvPr>
            <p:ph idx="2" type="title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22" name="Google Shape;822;p82"/>
          <p:cNvSpPr txBox="1"/>
          <p:nvPr>
            <p:ph type="title"/>
          </p:nvPr>
        </p:nvSpPr>
        <p:spPr>
          <a:xfrm>
            <a:off x="1733422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Conclusion-Future work</a:t>
            </a:r>
            <a:endParaRPr/>
          </a:p>
        </p:txBody>
      </p:sp>
      <p:sp>
        <p:nvSpPr>
          <p:cNvPr id="823" name="Google Shape;823;p82"/>
          <p:cNvSpPr txBox="1"/>
          <p:nvPr>
            <p:ph idx="1" type="subTitle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can still improve it …</a:t>
            </a:r>
            <a:endParaRPr/>
          </a:p>
        </p:txBody>
      </p:sp>
      <p:sp>
        <p:nvSpPr>
          <p:cNvPr id="824" name="Google Shape;824;p82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5" name="Google Shape;825;p82"/>
          <p:cNvSpPr txBox="1"/>
          <p:nvPr/>
        </p:nvSpPr>
        <p:spPr>
          <a:xfrm>
            <a:off x="8431200" y="4618675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</a:t>
            </a: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6" name="Google Shape;826;p82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7" name="Google Shape;827;p82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3"/>
          <p:cNvSpPr txBox="1"/>
          <p:nvPr>
            <p:ph idx="1" type="body"/>
          </p:nvPr>
        </p:nvSpPr>
        <p:spPr>
          <a:xfrm>
            <a:off x="208850" y="827750"/>
            <a:ext cx="40113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1.What We Built:</a:t>
            </a:r>
            <a:endParaRPr b="1"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4-Phase Pipeline: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GBM → Heston → Empirical → PINN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Progressive Improvement: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Each phase addresses previous limitations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Unified Framework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: Connects classical finance, empirical stats, and AI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Old Standard TT"/>
                <a:ea typeface="Old Standard TT"/>
                <a:cs typeface="Old Standard TT"/>
                <a:sym typeface="Old Standard TT"/>
              </a:rPr>
              <a:t>2.Impact: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Bridges mathematical rigor with data-driven flexibility for: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Advanced risk management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Derivatives pricing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Regime-adaptive strategies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3" name="Google Shape;833;p83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34" name="Google Shape;834;p83"/>
          <p:cNvSpPr txBox="1"/>
          <p:nvPr>
            <p:ph idx="1" type="body"/>
          </p:nvPr>
        </p:nvSpPr>
        <p:spPr>
          <a:xfrm>
            <a:off x="4220150" y="827750"/>
            <a:ext cx="40113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3.Key Insights Discovered: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Indian Markets are Complex: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Heavy-tailed, regime-dependent (~60 phases), non-Gaussian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Distributional Thinking Wins: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Point estimates insufficient for real risk management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Physics-Informed AI Works: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Successfully discovered interpretable drift/diffusion functions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4.The Fundamental Trade-off: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Achieved: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Physical consistency, interpretability, stable training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Sacrificed: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Some predictive accuracy on density matching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4"/>
          <p:cNvSpPr txBox="1"/>
          <p:nvPr>
            <p:ph idx="1" type="body"/>
          </p:nvPr>
        </p:nvSpPr>
        <p:spPr>
          <a:xfrm>
            <a:off x="208850" y="827750"/>
            <a:ext cx="4127400" cy="3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1.Architecture &amp; Intelligence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LSTM/Transformer Integration: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Temporal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LLM-Powered Priors: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Market context and Regime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Hybrid PINN+FNO: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Faster PDE solving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Relaxed Constraints: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Physics vs data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2.Computational Scaling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Multi-GPU Training: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Reduce runtime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Checkpoint Safety: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Prevent mid-run losses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Distributed Learning: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Train across multiple assets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Efficient Sampling: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Smart collocation points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0" name="Google Shape;840;p84"/>
          <p:cNvSpPr txBox="1"/>
          <p:nvPr>
            <p:ph type="title"/>
          </p:nvPr>
        </p:nvSpPr>
        <p:spPr>
          <a:xfrm>
            <a:off x="0" y="132375"/>
            <a:ext cx="850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841" name="Google Shape;841;p84"/>
          <p:cNvSpPr txBox="1"/>
          <p:nvPr>
            <p:ph idx="1" type="body"/>
          </p:nvPr>
        </p:nvSpPr>
        <p:spPr>
          <a:xfrm>
            <a:off x="4220150" y="827750"/>
            <a:ext cx="42855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3.Advanced Modeling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Multi-Asset PINNs: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Correlated systems with coupled FP equations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Jump-Diffusion Extensions: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Capture discontinuities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Regime-Switching PINNs: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Distinct models for bull/bear markets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Bayesian Uncertainty: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Credible intervals for risk measures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Old Standard TT"/>
                <a:ea typeface="Old Standard TT"/>
                <a:cs typeface="Old Standard TT"/>
                <a:sym typeface="Old Standard TT"/>
              </a:rPr>
              <a:t>4.Real-World Applications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ld Standard TT"/>
              <a:buChar char="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If you know, you know !!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5"/>
          <p:cNvSpPr txBox="1"/>
          <p:nvPr>
            <p:ph type="title"/>
          </p:nvPr>
        </p:nvSpPr>
        <p:spPr>
          <a:xfrm>
            <a:off x="713100" y="1249247"/>
            <a:ext cx="77178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Thanks !</a:t>
            </a:r>
            <a:endParaRPr/>
          </a:p>
        </p:txBody>
      </p:sp>
      <p:sp>
        <p:nvSpPr>
          <p:cNvPr id="847" name="Google Shape;847;p85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MA-311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8" name="Google Shape;848;p85"/>
          <p:cNvSpPr txBox="1"/>
          <p:nvPr/>
        </p:nvSpPr>
        <p:spPr>
          <a:xfrm>
            <a:off x="0" y="-7950"/>
            <a:ext cx="713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27/11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9" name="Google Shape;849;p85"/>
          <p:cNvSpPr txBox="1"/>
          <p:nvPr/>
        </p:nvSpPr>
        <p:spPr>
          <a:xfrm>
            <a:off x="1724250" y="4618671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Open to Questions?</a:t>
            </a:r>
            <a:endParaRPr b="0" i="1" sz="16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50" name="Google Shape;850;p85"/>
          <p:cNvSpPr txBox="1"/>
          <p:nvPr/>
        </p:nvSpPr>
        <p:spPr>
          <a:xfrm>
            <a:off x="8521600" y="4618675"/>
            <a:ext cx="622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2025</a:t>
            </a:r>
            <a:endParaRPr b="0" i="0" sz="1400" u="none" cap="none" strike="noStrik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51" name="Google Shape;851;p85"/>
          <p:cNvSpPr txBox="1"/>
          <p:nvPr/>
        </p:nvSpPr>
        <p:spPr>
          <a:xfrm>
            <a:off x="2045175" y="3386125"/>
            <a:ext cx="4965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All the related works, code, plots, sources can be found on GIT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mal Research Paper Slideshow by Slidesgo">
  <a:themeElements>
    <a:clrScheme name="Simple Light">
      <a:dk1>
        <a:srgbClr val="191919"/>
      </a:dk1>
      <a:lt1>
        <a:srgbClr val="FFFFFF"/>
      </a:lt1>
      <a:dk2>
        <a:srgbClr val="DDD9D5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